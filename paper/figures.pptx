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176077-7511-DA4D-8290-77F28AB65BEC}" v="13" dt="2026-02-13T16:12:08.0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delka, Claus [MATH]" userId="3587954921_tp_box_2" providerId="OAuth2" clId="{3A5D34D3-13CC-588F-87D8-4157F9E149E9}"/>
    <pc:docChg chg="undo custSel addSld modSld">
      <pc:chgData name="Kadelka, Claus [MATH]" userId="3587954921_tp_box_2" providerId="OAuth2" clId="{3A5D34D3-13CC-588F-87D8-4157F9E149E9}" dt="2026-02-13T16:12:11.065" v="655" actId="1076"/>
      <pc:docMkLst>
        <pc:docMk/>
      </pc:docMkLst>
      <pc:sldChg chg="modSp mod">
        <pc:chgData name="Kadelka, Claus [MATH]" userId="3587954921_tp_box_2" providerId="OAuth2" clId="{3A5D34D3-13CC-588F-87D8-4157F9E149E9}" dt="2026-02-10T05:59:23.904" v="67"/>
        <pc:sldMkLst>
          <pc:docMk/>
          <pc:sldMk cId="3842302640" sldId="262"/>
        </pc:sldMkLst>
        <pc:spChg chg="mod">
          <ac:chgData name="Kadelka, Claus [MATH]" userId="3587954921_tp_box_2" providerId="OAuth2" clId="{3A5D34D3-13CC-588F-87D8-4157F9E149E9}" dt="2026-02-10T05:55:03.707" v="33" actId="20577"/>
          <ac:spMkLst>
            <pc:docMk/>
            <pc:sldMk cId="3842302640" sldId="262"/>
            <ac:spMk id="4" creationId="{1DAA9EE6-11C5-A0A4-93B4-2D2087196CC4}"/>
          </ac:spMkLst>
        </pc:spChg>
        <pc:spChg chg="mod">
          <ac:chgData name="Kadelka, Claus [MATH]" userId="3587954921_tp_box_2" providerId="OAuth2" clId="{3A5D34D3-13CC-588F-87D8-4157F9E149E9}" dt="2026-02-10T05:54:43.476" v="30" actId="20577"/>
          <ac:spMkLst>
            <pc:docMk/>
            <pc:sldMk cId="3842302640" sldId="262"/>
            <ac:spMk id="5" creationId="{AA2A4C3D-B737-AE2F-71F6-77FDC7733A53}"/>
          </ac:spMkLst>
        </pc:spChg>
        <pc:spChg chg="mod">
          <ac:chgData name="Kadelka, Claus [MATH]" userId="3587954921_tp_box_2" providerId="OAuth2" clId="{3A5D34D3-13CC-588F-87D8-4157F9E149E9}" dt="2026-02-10T05:59:23.904" v="67"/>
          <ac:spMkLst>
            <pc:docMk/>
            <pc:sldMk cId="3842302640" sldId="262"/>
            <ac:spMk id="6" creationId="{3F12174E-88D6-19D5-3E11-09A4E62118FD}"/>
          </ac:spMkLst>
        </pc:spChg>
        <pc:spChg chg="mod">
          <ac:chgData name="Kadelka, Claus [MATH]" userId="3587954921_tp_box_2" providerId="OAuth2" clId="{3A5D34D3-13CC-588F-87D8-4157F9E149E9}" dt="2026-02-10T05:55:28.436" v="38" actId="14100"/>
          <ac:spMkLst>
            <pc:docMk/>
            <pc:sldMk cId="3842302640" sldId="262"/>
            <ac:spMk id="7" creationId="{8E32BCFE-5A74-DD22-B5A0-DF806E4478F3}"/>
          </ac:spMkLst>
        </pc:spChg>
        <pc:spChg chg="mod">
          <ac:chgData name="Kadelka, Claus [MATH]" userId="3587954921_tp_box_2" providerId="OAuth2" clId="{3A5D34D3-13CC-588F-87D8-4157F9E149E9}" dt="2026-02-10T05:54:11.731" v="19" actId="20577"/>
          <ac:spMkLst>
            <pc:docMk/>
            <pc:sldMk cId="3842302640" sldId="262"/>
            <ac:spMk id="8" creationId="{82D1E615-0133-8E7A-494F-891A03D4F713}"/>
          </ac:spMkLst>
        </pc:spChg>
        <pc:spChg chg="mod">
          <ac:chgData name="Kadelka, Claus [MATH]" userId="3587954921_tp_box_2" providerId="OAuth2" clId="{3A5D34D3-13CC-588F-87D8-4157F9E149E9}" dt="2026-02-10T05:53:59.593" v="14" actId="20577"/>
          <ac:spMkLst>
            <pc:docMk/>
            <pc:sldMk cId="3842302640" sldId="262"/>
            <ac:spMk id="14" creationId="{64715B86-B7FF-611D-0EC6-4ACE7C5D2932}"/>
          </ac:spMkLst>
        </pc:spChg>
        <pc:spChg chg="mod">
          <ac:chgData name="Kadelka, Claus [MATH]" userId="3587954921_tp_box_2" providerId="OAuth2" clId="{3A5D34D3-13CC-588F-87D8-4157F9E149E9}" dt="2026-02-10T05:55:35.647" v="40" actId="14100"/>
          <ac:spMkLst>
            <pc:docMk/>
            <pc:sldMk cId="3842302640" sldId="262"/>
            <ac:spMk id="64" creationId="{C7F4E4D2-E099-F81C-A05E-4DDB135E817C}"/>
          </ac:spMkLst>
        </pc:spChg>
        <pc:cxnChg chg="mod">
          <ac:chgData name="Kadelka, Claus [MATH]" userId="3587954921_tp_box_2" providerId="OAuth2" clId="{3A5D34D3-13CC-588F-87D8-4157F9E149E9}" dt="2026-02-10T05:54:28.558" v="21" actId="20578"/>
          <ac:cxnSpMkLst>
            <pc:docMk/>
            <pc:sldMk cId="3842302640" sldId="262"/>
            <ac:cxnSpMk id="11" creationId="{06148DE3-88FE-2E45-57BC-6D81D3479281}"/>
          </ac:cxnSpMkLst>
        </pc:cxnChg>
        <pc:cxnChg chg="mod">
          <ac:chgData name="Kadelka, Claus [MATH]" userId="3587954921_tp_box_2" providerId="OAuth2" clId="{3A5D34D3-13CC-588F-87D8-4157F9E149E9}" dt="2026-02-10T05:55:28.436" v="38" actId="14100"/>
          <ac:cxnSpMkLst>
            <pc:docMk/>
            <pc:sldMk cId="3842302640" sldId="262"/>
            <ac:cxnSpMk id="22" creationId="{4943056B-8E7C-22AC-384B-F6BFEC18C1FA}"/>
          </ac:cxnSpMkLst>
        </pc:cxnChg>
        <pc:cxnChg chg="mod">
          <ac:chgData name="Kadelka, Claus [MATH]" userId="3587954921_tp_box_2" providerId="OAuth2" clId="{3A5D34D3-13CC-588F-87D8-4157F9E149E9}" dt="2026-02-10T05:59:23.904" v="67"/>
          <ac:cxnSpMkLst>
            <pc:docMk/>
            <pc:sldMk cId="3842302640" sldId="262"/>
            <ac:cxnSpMk id="25" creationId="{3800CD7F-F1D7-D141-A669-1C1E7121E604}"/>
          </ac:cxnSpMkLst>
        </pc:cxnChg>
        <pc:cxnChg chg="mod">
          <ac:chgData name="Kadelka, Claus [MATH]" userId="3587954921_tp_box_2" providerId="OAuth2" clId="{3A5D34D3-13CC-588F-87D8-4157F9E149E9}" dt="2026-02-10T05:54:28.558" v="21" actId="20578"/>
          <ac:cxnSpMkLst>
            <pc:docMk/>
            <pc:sldMk cId="3842302640" sldId="262"/>
            <ac:cxnSpMk id="30" creationId="{B4D7F1A8-D56F-696A-F251-AB5438B83349}"/>
          </ac:cxnSpMkLst>
        </pc:cxnChg>
      </pc:sldChg>
      <pc:sldChg chg="modSp add mod">
        <pc:chgData name="Kadelka, Claus [MATH]" userId="3587954921_tp_box_2" providerId="OAuth2" clId="{3A5D34D3-13CC-588F-87D8-4157F9E149E9}" dt="2026-02-13T15:57:59.965" v="545" actId="15"/>
        <pc:sldMkLst>
          <pc:docMk/>
          <pc:sldMk cId="3918560306" sldId="263"/>
        </pc:sldMkLst>
        <pc:spChg chg="mod">
          <ac:chgData name="Kadelka, Claus [MATH]" userId="3587954921_tp_box_2" providerId="OAuth2" clId="{3A5D34D3-13CC-588F-87D8-4157F9E149E9}" dt="2026-02-13T15:53:13.497" v="513" actId="20577"/>
          <ac:spMkLst>
            <pc:docMk/>
            <pc:sldMk cId="3918560306" sldId="263"/>
            <ac:spMk id="4" creationId="{BDC52EDB-2031-7665-3923-E5B5993B1B7A}"/>
          </ac:spMkLst>
        </pc:spChg>
        <pc:spChg chg="mod">
          <ac:chgData name="Kadelka, Claus [MATH]" userId="3587954921_tp_box_2" providerId="OAuth2" clId="{3A5D34D3-13CC-588F-87D8-4157F9E149E9}" dt="2026-02-13T15:52:19.945" v="477" actId="14100"/>
          <ac:spMkLst>
            <pc:docMk/>
            <pc:sldMk cId="3918560306" sldId="263"/>
            <ac:spMk id="5" creationId="{7B0391BC-A567-4AA6-B146-24F684DC7C4B}"/>
          </ac:spMkLst>
        </pc:spChg>
        <pc:spChg chg="mod">
          <ac:chgData name="Kadelka, Claus [MATH]" userId="3587954921_tp_box_2" providerId="OAuth2" clId="{3A5D34D3-13CC-588F-87D8-4157F9E149E9}" dt="2026-02-13T15:54:15.372" v="544" actId="20577"/>
          <ac:spMkLst>
            <pc:docMk/>
            <pc:sldMk cId="3918560306" sldId="263"/>
            <ac:spMk id="6" creationId="{785A3C15-DA6E-0030-3CA8-281CD248ECEE}"/>
          </ac:spMkLst>
        </pc:spChg>
        <pc:spChg chg="mod">
          <ac:chgData name="Kadelka, Claus [MATH]" userId="3587954921_tp_box_2" providerId="OAuth2" clId="{3A5D34D3-13CC-588F-87D8-4157F9E149E9}" dt="2026-02-13T15:57:59.965" v="545" actId="15"/>
          <ac:spMkLst>
            <pc:docMk/>
            <pc:sldMk cId="3918560306" sldId="263"/>
            <ac:spMk id="7" creationId="{5DCA17D7-E1C9-6887-5A39-5E13A8559D88}"/>
          </ac:spMkLst>
        </pc:spChg>
        <pc:spChg chg="mod">
          <ac:chgData name="Kadelka, Claus [MATH]" userId="3587954921_tp_box_2" providerId="OAuth2" clId="{3A5D34D3-13CC-588F-87D8-4157F9E149E9}" dt="2026-02-13T15:53:38.794" v="516" actId="1076"/>
          <ac:spMkLst>
            <pc:docMk/>
            <pc:sldMk cId="3918560306" sldId="263"/>
            <ac:spMk id="8" creationId="{92DE0923-6F4C-9C47-EB15-6B708E8D13B7}"/>
          </ac:spMkLst>
        </pc:spChg>
        <pc:cxnChg chg="mod">
          <ac:chgData name="Kadelka, Claus [MATH]" userId="3587954921_tp_box_2" providerId="OAuth2" clId="{3A5D34D3-13CC-588F-87D8-4157F9E149E9}" dt="2026-02-13T15:52:19.945" v="477" actId="14100"/>
          <ac:cxnSpMkLst>
            <pc:docMk/>
            <pc:sldMk cId="3918560306" sldId="263"/>
            <ac:cxnSpMk id="11" creationId="{AF089599-FBE1-9120-0B48-5B67E543806C}"/>
          </ac:cxnSpMkLst>
        </pc:cxnChg>
        <pc:cxnChg chg="mod">
          <ac:chgData name="Kadelka, Claus [MATH]" userId="3587954921_tp_box_2" providerId="OAuth2" clId="{3A5D34D3-13CC-588F-87D8-4157F9E149E9}" dt="2026-02-13T15:57:59.965" v="545" actId="15"/>
          <ac:cxnSpMkLst>
            <pc:docMk/>
            <pc:sldMk cId="3918560306" sldId="263"/>
            <ac:cxnSpMk id="22" creationId="{C92BEAD4-AB3F-F6AD-6CDA-BED74B79A387}"/>
          </ac:cxnSpMkLst>
        </pc:cxnChg>
        <pc:cxnChg chg="mod">
          <ac:chgData name="Kadelka, Claus [MATH]" userId="3587954921_tp_box_2" providerId="OAuth2" clId="{3A5D34D3-13CC-588F-87D8-4157F9E149E9}" dt="2026-02-13T15:54:06.473" v="539" actId="20577"/>
          <ac:cxnSpMkLst>
            <pc:docMk/>
            <pc:sldMk cId="3918560306" sldId="263"/>
            <ac:cxnSpMk id="25" creationId="{5EDDB56A-C114-C385-569F-409B01C198DC}"/>
          </ac:cxnSpMkLst>
        </pc:cxnChg>
        <pc:cxnChg chg="mod">
          <ac:chgData name="Kadelka, Claus [MATH]" userId="3587954921_tp_box_2" providerId="OAuth2" clId="{3A5D34D3-13CC-588F-87D8-4157F9E149E9}" dt="2026-02-13T15:52:14.586" v="476" actId="14100"/>
          <ac:cxnSpMkLst>
            <pc:docMk/>
            <pc:sldMk cId="3918560306" sldId="263"/>
            <ac:cxnSpMk id="27" creationId="{BBF53E0A-B02D-112A-A7D2-4396469776D2}"/>
          </ac:cxnSpMkLst>
        </pc:cxnChg>
        <pc:cxnChg chg="mod">
          <ac:chgData name="Kadelka, Claus [MATH]" userId="3587954921_tp_box_2" providerId="OAuth2" clId="{3A5D34D3-13CC-588F-87D8-4157F9E149E9}" dt="2026-02-13T15:52:19.945" v="477" actId="14100"/>
          <ac:cxnSpMkLst>
            <pc:docMk/>
            <pc:sldMk cId="3918560306" sldId="263"/>
            <ac:cxnSpMk id="30" creationId="{5B489A06-47F0-6FF0-18B3-04BCBBF9F369}"/>
          </ac:cxnSpMkLst>
        </pc:cxnChg>
      </pc:sldChg>
      <pc:sldChg chg="addSp modSp add mod">
        <pc:chgData name="Kadelka, Claus [MATH]" userId="3587954921_tp_box_2" providerId="OAuth2" clId="{3A5D34D3-13CC-588F-87D8-4157F9E149E9}" dt="2026-02-13T16:12:11.065" v="655" actId="1076"/>
        <pc:sldMkLst>
          <pc:docMk/>
          <pc:sldMk cId="1824653240" sldId="264"/>
        </pc:sldMkLst>
        <pc:spChg chg="add mod">
          <ac:chgData name="Kadelka, Claus [MATH]" userId="3587954921_tp_box_2" providerId="OAuth2" clId="{3A5D34D3-13CC-588F-87D8-4157F9E149E9}" dt="2026-02-13T16:12:03.886" v="653" actId="1076"/>
          <ac:spMkLst>
            <pc:docMk/>
            <pc:sldMk cId="1824653240" sldId="264"/>
            <ac:spMk id="2" creationId="{BBEF3BA4-62FE-10A2-F798-432A682F68A0}"/>
          </ac:spMkLst>
        </pc:spChg>
        <pc:spChg chg="add">
          <ac:chgData name="Kadelka, Claus [MATH]" userId="3587954921_tp_box_2" providerId="OAuth2" clId="{3A5D34D3-13CC-588F-87D8-4157F9E149E9}" dt="2026-02-13T16:07:09.399" v="563"/>
          <ac:spMkLst>
            <pc:docMk/>
            <pc:sldMk cId="1824653240" sldId="264"/>
            <ac:spMk id="13" creationId="{3D4BC458-63EF-D67C-42E7-40C425761186}"/>
          </ac:spMkLst>
        </pc:spChg>
        <pc:spChg chg="add">
          <ac:chgData name="Kadelka, Claus [MATH]" userId="3587954921_tp_box_2" providerId="OAuth2" clId="{3A5D34D3-13CC-588F-87D8-4157F9E149E9}" dt="2026-02-13T16:07:20.923" v="564"/>
          <ac:spMkLst>
            <pc:docMk/>
            <pc:sldMk cId="1824653240" sldId="264"/>
            <ac:spMk id="16" creationId="{2ACAC20C-179C-670B-8206-4900DE92CFBA}"/>
          </ac:spMkLst>
        </pc:spChg>
        <pc:spChg chg="add mod">
          <ac:chgData name="Kadelka, Claus [MATH]" userId="3587954921_tp_box_2" providerId="OAuth2" clId="{3A5D34D3-13CC-588F-87D8-4157F9E149E9}" dt="2026-02-13T16:12:03.886" v="653" actId="1076"/>
          <ac:spMkLst>
            <pc:docMk/>
            <pc:sldMk cId="1824653240" sldId="264"/>
            <ac:spMk id="17" creationId="{A6DFA139-0033-1D87-5965-1612A7046E0A}"/>
          </ac:spMkLst>
        </pc:spChg>
        <pc:spChg chg="add mod">
          <ac:chgData name="Kadelka, Claus [MATH]" userId="3587954921_tp_box_2" providerId="OAuth2" clId="{3A5D34D3-13CC-588F-87D8-4157F9E149E9}" dt="2026-02-13T16:12:03.886" v="653" actId="1076"/>
          <ac:spMkLst>
            <pc:docMk/>
            <pc:sldMk cId="1824653240" sldId="264"/>
            <ac:spMk id="18" creationId="{AAE02E2B-C70B-A642-1E2A-F43C49D2DC31}"/>
          </ac:spMkLst>
        </pc:spChg>
        <pc:spChg chg="add mod">
          <ac:chgData name="Kadelka, Claus [MATH]" userId="3587954921_tp_box_2" providerId="OAuth2" clId="{3A5D34D3-13CC-588F-87D8-4157F9E149E9}" dt="2026-02-13T16:12:11.065" v="655" actId="1076"/>
          <ac:spMkLst>
            <pc:docMk/>
            <pc:sldMk cId="1824653240" sldId="264"/>
            <ac:spMk id="19" creationId="{B127E6E4-2E41-6DC0-D66A-4CF32E7E8EB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6D584-BEA9-16C3-F784-34CCAFEB13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02FD2F-9EA7-AF76-21EF-6D4CB78C92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A3A60-D5E8-60D5-BEE1-D64129F2E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93A43-3A17-F1CF-961F-B12DA96B1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115D0-5E3D-AE92-2DEB-238325FED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5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00F67-8734-C41B-3E9F-201E79C93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F3E0A-06CA-5616-B46B-0496EF367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B98AA6-703A-B90A-EB34-800EEFAF3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2193F-220E-A282-E3D1-370647291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C711EA-88C6-5FC4-A532-1B406892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018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7CEE2-9688-69B8-22E5-B0AA75AF3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738D5-378F-BA90-8F25-31A5FF6959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B28301-0082-10BE-632D-2BED864DC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899BBF-3411-A94B-6D6E-669412927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F4526-870D-A380-66FD-557C12F9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320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01B71-E323-63F5-3E1F-8756C8217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A8CC6-4732-129C-03E7-02EC13A4D4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D60453-417D-0558-FAAC-FFEC51C398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F73D2-2D1E-B544-2201-8F75826E6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623AFC-1B99-A6B6-C5D4-CA649EF18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E4A2A3-DB38-EBCF-5A4A-7AF6394CE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85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64860-CAF7-5C09-736F-1351F8C6D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4AAC40-68A8-5524-FD3B-69A728567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D46F56-4AB6-C1D6-3C85-97AC7F9875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913C15-692C-5E2F-9744-2E6A07313E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C60CF1-2D89-11D9-DF93-55B292039D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29D6EF-59E5-CC24-2AE0-4CB306044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27003B-E20A-3862-A78C-5ABB1413B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5A1227-3341-3B80-89CC-D8873B1C9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944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97B2D-368B-929A-0902-56F698426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0F3B4F-863C-A653-EC7D-C1715B4CC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1E1DD-3409-9F75-EE76-8FB80795F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B17541-4B84-1142-73C2-419F02C01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870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8D430F-0FEF-F423-5E5B-81BD72319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95CBEC-F22E-68F7-CD20-E9C13BED2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9D50-F17A-9ECB-5B80-279E84CD5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77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67389-FEE5-C0FF-58C3-E05FE40A2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8B1AD-1558-3276-2872-12C059461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87214A-A243-470F-592A-198C8EA111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1D1839-1B46-6DA2-44D9-E5560D208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FEAAFA-3EE4-5FC5-1B3C-E4F89268F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A0BC8-D91F-22F5-7C40-09929E975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5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061DF-33F5-9CF7-F260-FD9A3AE66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72B620-607A-4B08-5336-281D6A339D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9C7BF1-AC22-5F97-27A5-25B02AEB88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9BD28A-4980-38F0-41EF-241761341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CB78DB-D00D-C842-1781-BD3EAE675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314DC3-ADF8-4844-604D-BE15EE4C3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195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E234A-3C6E-070D-ADAB-E1D35586C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79DC7-163F-F934-DC95-7E6AE0FC6D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83DA6-EEC7-6AC3-195B-E171DC676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BDBEE4-5BBE-4161-362D-DDA247D2F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550BA-47F7-1F34-251B-B07F0D490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24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23D36A-903F-D0B9-8EEE-66BF8905B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A08712-CAC7-2CBA-CE36-3E2A29F525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720053-356A-669E-C9C0-28CA88781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1A785-8968-0768-A575-C883E27E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210E3-3C60-0FE8-41AB-B95CCC872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0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715C52-AB6C-573E-9F07-07A7958DA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78D2C-55B6-14F7-7425-A47D5C145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A5F89-6AD7-927F-E7C7-E4F2E09C5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81F77D-0A5A-8057-E3CE-FDC0A64130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222CA3-116C-E93B-C9C3-77FA5B246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127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209C94F-48A1-7837-18E1-D48A35665905}"/>
              </a:ext>
            </a:extLst>
          </p:cNvPr>
          <p:cNvSpPr txBox="1"/>
          <p:nvPr/>
        </p:nvSpPr>
        <p:spPr>
          <a:xfrm>
            <a:off x="1297749" y="14253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1. Random Boolean Function Generators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520C62-14A1-475F-BF82-4D0B5FE21614}"/>
              </a:ext>
            </a:extLst>
          </p:cNvPr>
          <p:cNvSpPr txBox="1"/>
          <p:nvPr/>
        </p:nvSpPr>
        <p:spPr>
          <a:xfrm>
            <a:off x="3946213" y="14253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3. Boolean Function 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084991-C304-A49F-A9B3-41ED667161C8}"/>
              </a:ext>
            </a:extLst>
          </p:cNvPr>
          <p:cNvSpPr txBox="1"/>
          <p:nvPr/>
        </p:nvSpPr>
        <p:spPr>
          <a:xfrm>
            <a:off x="3946213" y="2619728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4. Boolean Network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7EBEC-8C59-D88D-2E7C-D9B29945C997}"/>
              </a:ext>
            </a:extLst>
          </p:cNvPr>
          <p:cNvSpPr txBox="1"/>
          <p:nvPr/>
        </p:nvSpPr>
        <p:spPr>
          <a:xfrm>
            <a:off x="1297749" y="2619728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2. Random Boolean Network Generators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E6FE0-DFB2-7E3E-086B-B8C0024FB240}"/>
              </a:ext>
            </a:extLst>
          </p:cNvPr>
          <p:cNvSpPr txBox="1"/>
          <p:nvPr/>
        </p:nvSpPr>
        <p:spPr>
          <a:xfrm>
            <a:off x="2562446" y="3891516"/>
            <a:ext cx="2726341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5. Ensemble experiments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562441C-C762-0112-833A-D4A7C6A1A7F8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633175" y="1782882"/>
            <a:ext cx="3130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6A4DC22-CCC4-A052-60A6-A86D136E0A24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3633175" y="2977273"/>
            <a:ext cx="3130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E4A8AF-2C83-52B3-2227-09CD4D17961F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65462" y="3334817"/>
            <a:ext cx="1460155" cy="556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B7C5B7D-5EA8-8085-A20D-46518127F752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3925617" y="3334817"/>
            <a:ext cx="1188309" cy="556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1B6B4F9-A26A-5FDD-4E96-805C7E77DEF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2465462" y="2140426"/>
            <a:ext cx="0" cy="4793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5CEFDA-EB73-5680-C1D9-C812DD36BB3F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113926" y="2140426"/>
            <a:ext cx="0" cy="4793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511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D541-142B-AA34-1FDA-FA28B9D7D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E6D02E-5BF7-D7D3-3560-CD51B4C068C0}"/>
              </a:ext>
            </a:extLst>
          </p:cNvPr>
          <p:cNvSpPr txBox="1"/>
          <p:nvPr/>
        </p:nvSpPr>
        <p:spPr>
          <a:xfrm>
            <a:off x="1297749" y="14253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1. Random Boolean Function Generators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9292AA-8472-FB4E-C2B3-A9BF16F0B552}"/>
              </a:ext>
            </a:extLst>
          </p:cNvPr>
          <p:cNvSpPr txBox="1"/>
          <p:nvPr/>
        </p:nvSpPr>
        <p:spPr>
          <a:xfrm>
            <a:off x="1297749" y="36610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3. Boolean Function 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693BA7-7596-83E5-CA11-38CF8568E57D}"/>
              </a:ext>
            </a:extLst>
          </p:cNvPr>
          <p:cNvSpPr txBox="1"/>
          <p:nvPr/>
        </p:nvSpPr>
        <p:spPr>
          <a:xfrm>
            <a:off x="4647005" y="36610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4. Boolean Network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764FA9-9059-4799-8976-2F47E5E56B5E}"/>
              </a:ext>
            </a:extLst>
          </p:cNvPr>
          <p:cNvSpPr txBox="1"/>
          <p:nvPr/>
        </p:nvSpPr>
        <p:spPr>
          <a:xfrm>
            <a:off x="4647005" y="1425336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2. Random Boolean Network Generators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59CCCA-A88B-22C2-CD5E-586E4C8213C3}"/>
              </a:ext>
            </a:extLst>
          </p:cNvPr>
          <p:cNvSpPr txBox="1"/>
          <p:nvPr/>
        </p:nvSpPr>
        <p:spPr>
          <a:xfrm>
            <a:off x="7581013" y="2696419"/>
            <a:ext cx="2726341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5. Ensemble experiments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43D35FC-ED56-20E0-3AC5-A12684003BFC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2465462" y="2140426"/>
            <a:ext cx="0" cy="1520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24888C-DAD6-BDF5-F36A-BC996F82841F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814718" y="2140425"/>
            <a:ext cx="0" cy="15206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2D0FAE7-8BDE-D752-0774-A884DB15B6D0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6982431" y="1782881"/>
            <a:ext cx="1961753" cy="913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34706CA-877C-4280-AB2E-1050CD9A1E8D}"/>
              </a:ext>
            </a:extLst>
          </p:cNvPr>
          <p:cNvCxnSpPr>
            <a:cxnSpLocks/>
            <a:stCxn id="6" idx="3"/>
            <a:endCxn id="8" idx="2"/>
          </p:cNvCxnSpPr>
          <p:nvPr/>
        </p:nvCxnSpPr>
        <p:spPr>
          <a:xfrm flipV="1">
            <a:off x="6982431" y="3105042"/>
            <a:ext cx="1961753" cy="9135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63B09FB-3AE3-7534-E274-853EF2840CC2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633175" y="1782881"/>
            <a:ext cx="101383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E458771-1FB9-A8AE-87EF-3B3237105DE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633175" y="4018582"/>
            <a:ext cx="10138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3062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7264B-90DF-5331-402A-003549D1A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AA1A23E-BF7F-E812-FA28-AC0BB7F64A93}"/>
              </a:ext>
            </a:extLst>
          </p:cNvPr>
          <p:cNvSpPr txBox="1"/>
          <p:nvPr/>
        </p:nvSpPr>
        <p:spPr>
          <a:xfrm>
            <a:off x="1020733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3390C4-202C-D85E-085D-CCB9A4639B91}"/>
              </a:ext>
            </a:extLst>
          </p:cNvPr>
          <p:cNvSpPr txBox="1"/>
          <p:nvPr/>
        </p:nvSpPr>
        <p:spPr>
          <a:xfrm>
            <a:off x="1020732" y="2974417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196A90-AE14-D59A-6D04-D6AC520F9F50}"/>
              </a:ext>
            </a:extLst>
          </p:cNvPr>
          <p:cNvSpPr txBox="1"/>
          <p:nvPr/>
        </p:nvSpPr>
        <p:spPr>
          <a:xfrm>
            <a:off x="3913359" y="2974417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get_attractors_synchronous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9B4003-853E-D655-B512-17302323FD4D}"/>
              </a:ext>
            </a:extLst>
          </p:cNvPr>
          <p:cNvSpPr txBox="1"/>
          <p:nvPr/>
        </p:nvSpPr>
        <p:spPr>
          <a:xfrm>
            <a:off x="3913359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Generates a random Boolean network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1A2827-B06C-269A-5A83-32BE7FE042E2}"/>
              </a:ext>
            </a:extLst>
          </p:cNvPr>
          <p:cNvSpPr txBox="1"/>
          <p:nvPr/>
        </p:nvSpPr>
        <p:spPr>
          <a:xfrm>
            <a:off x="7581013" y="2696419"/>
            <a:ext cx="2726341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5. Ensemble experiments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626057F-A143-FE2E-657D-B5F4032DB7F2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2188445" y="2480945"/>
            <a:ext cx="1" cy="493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068F75-8298-702F-B29E-56557375B184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081072" y="2480945"/>
            <a:ext cx="0" cy="493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2227993-E2C9-F174-6114-5CED8656F6A5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6248785" y="1953141"/>
            <a:ext cx="2695399" cy="743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D98FA36-0950-E24D-EC72-3BF1B77506E7}"/>
              </a:ext>
            </a:extLst>
          </p:cNvPr>
          <p:cNvCxnSpPr>
            <a:cxnSpLocks/>
            <a:stCxn id="6" idx="3"/>
            <a:endCxn id="8" idx="2"/>
          </p:cNvCxnSpPr>
          <p:nvPr/>
        </p:nvCxnSpPr>
        <p:spPr>
          <a:xfrm flipV="1">
            <a:off x="6248785" y="3105042"/>
            <a:ext cx="2695399" cy="3631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7E882D-395C-037A-41E7-9745B3950B09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356159" y="1953141"/>
            <a:ext cx="557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B01527-AF36-AC39-2D67-A3F00BD4BF83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356158" y="3468169"/>
            <a:ext cx="557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140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37A3-34E2-43B1-9D68-D771416A4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00FF43-72FE-28C1-358F-28114D19422D}"/>
              </a:ext>
            </a:extLst>
          </p:cNvPr>
          <p:cNvSpPr txBox="1"/>
          <p:nvPr/>
        </p:nvSpPr>
        <p:spPr>
          <a:xfrm>
            <a:off x="715477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E5F3F5-C06E-ED90-17CA-872855B3CEC7}"/>
              </a:ext>
            </a:extLst>
          </p:cNvPr>
          <p:cNvSpPr txBox="1"/>
          <p:nvPr/>
        </p:nvSpPr>
        <p:spPr>
          <a:xfrm>
            <a:off x="715477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86872E-3AF2-4CAC-DC44-0891850B84CD}"/>
              </a:ext>
            </a:extLst>
          </p:cNvPr>
          <p:cNvSpPr txBox="1"/>
          <p:nvPr/>
        </p:nvSpPr>
        <p:spPr>
          <a:xfrm>
            <a:off x="3913359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get_Derrida_values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774C9D-442F-A561-BCA2-D603A4036B17}"/>
              </a:ext>
            </a:extLst>
          </p:cNvPr>
          <p:cNvSpPr txBox="1"/>
          <p:nvPr/>
        </p:nvSpPr>
        <p:spPr>
          <a:xfrm>
            <a:off x="3913359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 random Boolean networks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F17099-C86C-BC57-9FA6-D7ABE3B28120}"/>
              </a:ext>
            </a:extLst>
          </p:cNvPr>
          <p:cNvSpPr txBox="1"/>
          <p:nvPr/>
        </p:nvSpPr>
        <p:spPr>
          <a:xfrm>
            <a:off x="2212899" y="2699583"/>
            <a:ext cx="2538465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5. Ensemble experiments</a:t>
            </a:r>
          </a:p>
          <a:p>
            <a:r>
              <a:rPr lang="en-US" sz="800" dirty="0"/>
              <a:t>Build reproducible pipelines for systematic studies</a:t>
            </a:r>
          </a:p>
          <a:p>
            <a:r>
              <a:rPr lang="en-US" sz="800" dirty="0"/>
              <a:t>Systematically vary parameters and study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BDCD35-6B7E-127C-055B-7D5992528DDD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883190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9D6680-0CF5-B87D-6F9E-95C2C3019A52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081072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DAAFB58-CBF5-F4EC-6E1D-40FD5D6AB196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050903" y="1953141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F55827E-B68F-BB95-10B5-46819856295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050903" y="4127063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CD18FD-B643-9A76-951A-F9ED6B7CF340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83190" y="2480945"/>
            <a:ext cx="355028" cy="2621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63F5C5D-7F44-FD93-8CDF-1127C07507D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83190" y="3380204"/>
            <a:ext cx="35502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6941659-3284-CFEA-035A-A76C7FA4D85F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4751364" y="3380204"/>
            <a:ext cx="32970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74CBBBA-2AA1-F473-5560-BC1DCE72EF33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751363" y="2480945"/>
            <a:ext cx="329709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1668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48351-0DF7-98DA-19AF-16F1D64C1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BE950E5-4062-BF9A-1E00-CF0AFEC38A9B}"/>
              </a:ext>
            </a:extLst>
          </p:cNvPr>
          <p:cNvSpPr txBox="1"/>
          <p:nvPr/>
        </p:nvSpPr>
        <p:spPr>
          <a:xfrm>
            <a:off x="715477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AD405A-703B-81BD-DA2A-4A84AED98E9B}"/>
              </a:ext>
            </a:extLst>
          </p:cNvPr>
          <p:cNvSpPr txBox="1"/>
          <p:nvPr/>
        </p:nvSpPr>
        <p:spPr>
          <a:xfrm>
            <a:off x="715477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3972F6-8C12-E375-58CF-524228A5B119}"/>
              </a:ext>
            </a:extLst>
          </p:cNvPr>
          <p:cNvSpPr txBox="1"/>
          <p:nvPr/>
        </p:nvSpPr>
        <p:spPr>
          <a:xfrm>
            <a:off x="3913359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get_Derrida_values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C6BAB6-5CB9-4604-8CD8-E496DEC7206E}"/>
              </a:ext>
            </a:extLst>
          </p:cNvPr>
          <p:cNvSpPr txBox="1"/>
          <p:nvPr/>
        </p:nvSpPr>
        <p:spPr>
          <a:xfrm>
            <a:off x="3913359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 random Boolean networks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E3303-F139-DA18-E558-754BD02C67F6}"/>
              </a:ext>
            </a:extLst>
          </p:cNvPr>
          <p:cNvSpPr txBox="1"/>
          <p:nvPr/>
        </p:nvSpPr>
        <p:spPr>
          <a:xfrm>
            <a:off x="2212899" y="2699583"/>
            <a:ext cx="2538465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5. Ensemble experiments</a:t>
            </a:r>
          </a:p>
          <a:p>
            <a:r>
              <a:rPr lang="en-US" sz="800" dirty="0"/>
              <a:t>Build reproducible pipelines for systematic studies:</a:t>
            </a:r>
          </a:p>
          <a:p>
            <a:r>
              <a:rPr lang="en-US" sz="800" dirty="0"/>
              <a:t>vary parameters and study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321F01-1A0F-F0EB-0A7F-73C66D74219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883190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6F1CC3F-B47E-AD2F-E70A-8E70AFA55EE7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081072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D92C94E-597B-A22B-F357-D1D2054FF6A9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050903" y="1953141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E3CCA0C-FF24-CB22-58D2-FEC9E9674EA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050903" y="4127063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C87C70-90B7-665C-0D00-B6C018883FD5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83190" y="2480945"/>
            <a:ext cx="355028" cy="2621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C2172A1-DFBE-5820-D4CA-A9465C1D6799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83190" y="3380204"/>
            <a:ext cx="35502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DA9EFFE-49F3-CA2A-0059-BE3772483990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4751364" y="3380204"/>
            <a:ext cx="32970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17A4252-8BAC-ADC8-E265-B1AFB881A510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751363" y="2480945"/>
            <a:ext cx="329709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D8FFC44-D612-A1FB-DD19-19CCD2EDA170}"/>
              </a:ext>
            </a:extLst>
          </p:cNvPr>
          <p:cNvSpPr txBox="1"/>
          <p:nvPr/>
        </p:nvSpPr>
        <p:spPr>
          <a:xfrm>
            <a:off x="5410780" y="2507803"/>
            <a:ext cx="1612396" cy="1031915"/>
          </a:xfrm>
          <a:prstGeom prst="hexagon">
            <a:avLst>
              <a:gd name="adj" fmla="val 6992"/>
              <a:gd name="vf" fmla="val 115470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BooleanNetwork</a:t>
            </a:r>
            <a:endParaRPr lang="en-US" sz="1200" dirty="0"/>
          </a:p>
          <a:p>
            <a:r>
              <a:rPr lang="en-US" sz="800" dirty="0"/>
              <a:t>Interoperable with </a:t>
            </a:r>
            <a:r>
              <a:rPr lang="en-US" sz="800" dirty="0" err="1"/>
              <a:t>PyBoolNet</a:t>
            </a:r>
            <a:r>
              <a:rPr lang="en-US" sz="800" dirty="0"/>
              <a:t>, CANA</a:t>
            </a:r>
          </a:p>
          <a:p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096074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20BAD-0DE0-C471-51F0-F6B73098D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0E8E869-8CD1-325D-B8AD-CE1DFCDFE559}"/>
              </a:ext>
            </a:extLst>
          </p:cNvPr>
          <p:cNvSpPr/>
          <p:nvPr/>
        </p:nvSpPr>
        <p:spPr>
          <a:xfrm>
            <a:off x="3703101" y="944880"/>
            <a:ext cx="2982179" cy="3992880"/>
          </a:xfrm>
          <a:prstGeom prst="roundRect">
            <a:avLst>
              <a:gd name="adj" fmla="val 20354"/>
            </a:avLst>
          </a:prstGeom>
          <a:solidFill>
            <a:schemeClr val="accent2">
              <a:lumMod val="20000"/>
              <a:lumOff val="8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7C609A5-672E-3A7E-2435-4831FA0C9A53}"/>
              </a:ext>
            </a:extLst>
          </p:cNvPr>
          <p:cNvSpPr/>
          <p:nvPr/>
        </p:nvSpPr>
        <p:spPr>
          <a:xfrm>
            <a:off x="525739" y="944880"/>
            <a:ext cx="2755941" cy="3992880"/>
          </a:xfrm>
          <a:prstGeom prst="roundRect">
            <a:avLst>
              <a:gd name="adj" fmla="val 20354"/>
            </a:avLst>
          </a:prstGeom>
          <a:solidFill>
            <a:schemeClr val="accent2">
              <a:lumMod val="20000"/>
              <a:lumOff val="8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0C0AD-E2BB-DCBD-8C86-A5C6F2BCA3EF}"/>
              </a:ext>
            </a:extLst>
          </p:cNvPr>
          <p:cNvSpPr txBox="1"/>
          <p:nvPr/>
        </p:nvSpPr>
        <p:spPr>
          <a:xfrm>
            <a:off x="715477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(n, bias)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65A8E1-BCC5-C492-2CD7-8C1540562120}"/>
              </a:ext>
            </a:extLst>
          </p:cNvPr>
          <p:cNvSpPr txBox="1"/>
          <p:nvPr/>
        </p:nvSpPr>
        <p:spPr>
          <a:xfrm>
            <a:off x="715477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E93D43-9F6D-C312-57FA-EFF5AAFBDD1E}"/>
              </a:ext>
            </a:extLst>
          </p:cNvPr>
          <p:cNvSpPr txBox="1"/>
          <p:nvPr/>
        </p:nvSpPr>
        <p:spPr>
          <a:xfrm>
            <a:off x="3913359" y="3633311"/>
            <a:ext cx="2690640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get_Derrida_values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46DDB8-E72E-6A34-BFFB-F00834FF9274}"/>
              </a:ext>
            </a:extLst>
          </p:cNvPr>
          <p:cNvSpPr txBox="1"/>
          <p:nvPr/>
        </p:nvSpPr>
        <p:spPr>
          <a:xfrm>
            <a:off x="3913359" y="1425337"/>
            <a:ext cx="2690640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 random Boolean networks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0A1176-6492-53E4-830D-2FDA82078130}"/>
              </a:ext>
            </a:extLst>
          </p:cNvPr>
          <p:cNvSpPr txBox="1"/>
          <p:nvPr/>
        </p:nvSpPr>
        <p:spPr>
          <a:xfrm>
            <a:off x="2212899" y="2699583"/>
            <a:ext cx="2538465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5. Ensemble experiments</a:t>
            </a:r>
          </a:p>
          <a:p>
            <a:r>
              <a:rPr lang="en-US" sz="800" dirty="0"/>
              <a:t>Build reproducible pipelines for systematic studies:</a:t>
            </a:r>
          </a:p>
          <a:p>
            <a:r>
              <a:rPr lang="en-US" sz="800" dirty="0"/>
              <a:t>vary parameters and study function and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9403B9B-A14C-B3EB-CDB0-124300457DB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883190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DDC3916-02BD-2CD6-14BA-30313AB1033E}"/>
              </a:ext>
            </a:extLst>
          </p:cNvPr>
          <p:cNvCxnSpPr>
            <a:cxnSpLocks/>
          </p:cNvCxnSpPr>
          <p:nvPr/>
        </p:nvCxnSpPr>
        <p:spPr>
          <a:xfrm>
            <a:off x="5069840" y="2480945"/>
            <a:ext cx="11232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62C4D76-47CE-5E07-763C-C74A4F3A6D8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050903" y="1953141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0D959E0-D9BB-67A9-4ACF-14BF2229DF2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050903" y="4127063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1C43C74-F79F-9BD9-4B0D-C86AD3D8FF0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83190" y="2480945"/>
            <a:ext cx="355028" cy="2621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3CD7593-046B-3A4C-0B6F-B7EACAC98FE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83190" y="3380204"/>
            <a:ext cx="35502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D9B5C6A-FE9E-E2AF-DB34-3817E4ACE0B9}"/>
              </a:ext>
            </a:extLst>
          </p:cNvPr>
          <p:cNvCxnSpPr>
            <a:cxnSpLocks/>
          </p:cNvCxnSpPr>
          <p:nvPr/>
        </p:nvCxnSpPr>
        <p:spPr>
          <a:xfrm flipH="1" flipV="1">
            <a:off x="4751364" y="3380204"/>
            <a:ext cx="318476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2108598-656A-FF35-DE1F-BC0E925D3133}"/>
              </a:ext>
            </a:extLst>
          </p:cNvPr>
          <p:cNvCxnSpPr>
            <a:cxnSpLocks/>
          </p:cNvCxnSpPr>
          <p:nvPr/>
        </p:nvCxnSpPr>
        <p:spPr>
          <a:xfrm flipH="1">
            <a:off x="4751363" y="2480945"/>
            <a:ext cx="318476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6E474E2-B899-5D6A-9107-9532F2ABFAA9}"/>
              </a:ext>
            </a:extLst>
          </p:cNvPr>
          <p:cNvSpPr txBox="1"/>
          <p:nvPr/>
        </p:nvSpPr>
        <p:spPr>
          <a:xfrm>
            <a:off x="3869202" y="1029990"/>
            <a:ext cx="1681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BooleanNetwork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FBCD24-2AB5-DC48-3C85-7CAA41A6D546}"/>
              </a:ext>
            </a:extLst>
          </p:cNvPr>
          <p:cNvSpPr txBox="1"/>
          <p:nvPr/>
        </p:nvSpPr>
        <p:spPr>
          <a:xfrm>
            <a:off x="715477" y="1046609"/>
            <a:ext cx="17083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BooleanFunction</a:t>
            </a:r>
            <a:endParaRPr 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A94C1F-2208-F6C3-1A03-DC0692915494}"/>
              </a:ext>
            </a:extLst>
          </p:cNvPr>
          <p:cNvSpPr txBox="1"/>
          <p:nvPr/>
        </p:nvSpPr>
        <p:spPr>
          <a:xfrm>
            <a:off x="5172785" y="2767687"/>
            <a:ext cx="1431214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6. Interoperability</a:t>
            </a:r>
          </a:p>
          <a:p>
            <a:r>
              <a:rPr lang="en-US" sz="800" dirty="0"/>
              <a:t>Export/Import </a:t>
            </a:r>
            <a:r>
              <a:rPr lang="en-US" sz="800" dirty="0">
                <a:sym typeface="Wingdings" pitchFamily="2" charset="2"/>
              </a:rPr>
              <a:t></a:t>
            </a:r>
            <a:br>
              <a:rPr lang="en-US" sz="800" dirty="0">
                <a:sym typeface="Wingdings" pitchFamily="2" charset="2"/>
              </a:rPr>
            </a:br>
            <a:r>
              <a:rPr lang="en-US" sz="800" dirty="0">
                <a:sym typeface="Wingdings" pitchFamily="2" charset="2"/>
              </a:rPr>
              <a:t>CANA, </a:t>
            </a:r>
            <a:r>
              <a:rPr lang="en-US" sz="800" dirty="0" err="1">
                <a:sym typeface="Wingdings" pitchFamily="2" charset="2"/>
              </a:rPr>
              <a:t>PyBoolNet</a:t>
            </a:r>
            <a:r>
              <a:rPr lang="en-US" sz="800" dirty="0">
                <a:sym typeface="Wingdings" pitchFamily="2" charset="2"/>
              </a:rPr>
              <a:t>, …</a:t>
            </a:r>
            <a:endParaRPr lang="en-US" sz="8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FA7003-1E13-5AD6-BA51-7E9E3239DF79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888392" y="2480945"/>
            <a:ext cx="0" cy="28674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82489BA-5D53-F025-080D-AC348AA85041}"/>
              </a:ext>
            </a:extLst>
          </p:cNvPr>
          <p:cNvCxnSpPr>
            <a:cxnSpLocks/>
          </p:cNvCxnSpPr>
          <p:nvPr/>
        </p:nvCxnSpPr>
        <p:spPr>
          <a:xfrm>
            <a:off x="5888392" y="3346569"/>
            <a:ext cx="0" cy="28674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3904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BCC99-BFF3-2515-0634-2BBADF2F8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C7F4E4D2-E099-F81C-A05E-4DDB135E817C}"/>
              </a:ext>
            </a:extLst>
          </p:cNvPr>
          <p:cNvSpPr/>
          <p:nvPr/>
        </p:nvSpPr>
        <p:spPr>
          <a:xfrm>
            <a:off x="3716309" y="1061643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9191552-C878-C93F-605F-DF57B0B30E03}"/>
              </a:ext>
            </a:extLst>
          </p:cNvPr>
          <p:cNvSpPr/>
          <p:nvPr/>
        </p:nvSpPr>
        <p:spPr>
          <a:xfrm>
            <a:off x="525739" y="1090217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AA9EE6-11C5-A0A4-93B4-2D2087196CC4}"/>
              </a:ext>
            </a:extLst>
          </p:cNvPr>
          <p:cNvSpPr txBox="1"/>
          <p:nvPr/>
        </p:nvSpPr>
        <p:spPr>
          <a:xfrm>
            <a:off x="640505" y="1428274"/>
            <a:ext cx="253846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Random Boolean Function Generators</a:t>
            </a:r>
          </a:p>
          <a:p>
            <a:r>
              <a:rPr lang="en-US" sz="800" dirty="0" err="1"/>
              <a:t>random_non_degenerate_function</a:t>
            </a:r>
            <a:r>
              <a:rPr lang="en-US" sz="800" dirty="0"/>
              <a:t>(n, bias)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2A4C3D-B737-AE2F-71F6-77FDC7733A53}"/>
              </a:ext>
            </a:extLst>
          </p:cNvPr>
          <p:cNvSpPr txBox="1"/>
          <p:nvPr/>
        </p:nvSpPr>
        <p:spPr>
          <a:xfrm>
            <a:off x="640505" y="3558222"/>
            <a:ext cx="2538464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</a:t>
            </a:r>
            <a:r>
              <a:rPr lang="en-US" sz="800" dirty="0"/>
              <a:t>()	</a:t>
            </a:r>
            <a:r>
              <a:rPr lang="en-US" sz="800" dirty="0" err="1"/>
              <a:t>get_average_sensitivity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2174E-88D6-19D5-3E11-09A4E62118FD}"/>
              </a:ext>
            </a:extLst>
          </p:cNvPr>
          <p:cNvSpPr txBox="1"/>
          <p:nvPr/>
        </p:nvSpPr>
        <p:spPr>
          <a:xfrm>
            <a:off x="3825048" y="3574573"/>
            <a:ext cx="2538463" cy="95345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get_types_of_regulation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get_ffls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32BCFE-5A74-DD22-B5A0-DF806E4478F3}"/>
              </a:ext>
            </a:extLst>
          </p:cNvPr>
          <p:cNvSpPr txBox="1"/>
          <p:nvPr/>
        </p:nvSpPr>
        <p:spPr>
          <a:xfrm>
            <a:off x="3825049" y="1428274"/>
            <a:ext cx="2538456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Random Boolean Network Generators</a:t>
            </a:r>
          </a:p>
          <a:p>
            <a:r>
              <a:rPr lang="en-US" sz="800" dirty="0"/>
              <a:t>Generate random Boolean networks of defined size, degree distribution, canalizing depth,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D1E615-0133-8E7A-494F-891A03D4F713}"/>
              </a:ext>
            </a:extLst>
          </p:cNvPr>
          <p:cNvSpPr txBox="1"/>
          <p:nvPr/>
        </p:nvSpPr>
        <p:spPr>
          <a:xfrm>
            <a:off x="2196399" y="2575672"/>
            <a:ext cx="2538465" cy="68103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Ensemble Experiments</a:t>
            </a:r>
          </a:p>
          <a:p>
            <a:r>
              <a:rPr lang="en-US" sz="800" dirty="0"/>
              <a:t>Build reproducible pipelines for systematic studies:</a:t>
            </a:r>
          </a:p>
          <a:p>
            <a:r>
              <a:rPr lang="en-US" sz="800" dirty="0"/>
              <a:t>vary parameters and study function and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6148DE3-88FE-2E45-57BC-6D81D3479281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909737" y="2245519"/>
            <a:ext cx="1" cy="131270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8EC6788-9327-107F-F0BF-636E61972058}"/>
              </a:ext>
            </a:extLst>
          </p:cNvPr>
          <p:cNvCxnSpPr>
            <a:cxnSpLocks/>
          </p:cNvCxnSpPr>
          <p:nvPr/>
        </p:nvCxnSpPr>
        <p:spPr>
          <a:xfrm>
            <a:off x="5018225" y="2246476"/>
            <a:ext cx="0" cy="13107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943056B-8E7C-22AC-384B-F6BFEC18C1FA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178970" y="1836897"/>
            <a:ext cx="646079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800CD7F-F1D7-D141-A669-1C1E7121E604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178969" y="4051300"/>
            <a:ext cx="646079" cy="6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01BE3EE-4B2B-B9E9-807C-1432898E854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909738" y="2245519"/>
            <a:ext cx="308329" cy="3335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4D7F1A8-D56F-696A-F251-AB5438B83349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909737" y="3265436"/>
            <a:ext cx="308330" cy="2927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A92518D-6DA3-2B2A-CB61-817B8558B963}"/>
              </a:ext>
            </a:extLst>
          </p:cNvPr>
          <p:cNvCxnSpPr>
            <a:cxnSpLocks/>
          </p:cNvCxnSpPr>
          <p:nvPr/>
        </p:nvCxnSpPr>
        <p:spPr>
          <a:xfrm flipH="1" flipV="1">
            <a:off x="4725699" y="3241020"/>
            <a:ext cx="299965" cy="3387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F19AB48-8110-2536-48CE-AB5D6500F3EC}"/>
              </a:ext>
            </a:extLst>
          </p:cNvPr>
          <p:cNvCxnSpPr>
            <a:cxnSpLocks/>
          </p:cNvCxnSpPr>
          <p:nvPr/>
        </p:nvCxnSpPr>
        <p:spPr>
          <a:xfrm flipH="1">
            <a:off x="4692254" y="2245519"/>
            <a:ext cx="329366" cy="3335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C2D3A4E-CD9B-2F16-65A6-5F750E1EC401}"/>
              </a:ext>
            </a:extLst>
          </p:cNvPr>
          <p:cNvSpPr txBox="1"/>
          <p:nvPr/>
        </p:nvSpPr>
        <p:spPr>
          <a:xfrm>
            <a:off x="3912362" y="1153099"/>
            <a:ext cx="14318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BooleanNetwork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0460BE-3EB7-DDD9-1615-745592F348E6}"/>
              </a:ext>
            </a:extLst>
          </p:cNvPr>
          <p:cNvSpPr txBox="1"/>
          <p:nvPr/>
        </p:nvSpPr>
        <p:spPr>
          <a:xfrm>
            <a:off x="715476" y="1153100"/>
            <a:ext cx="14542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BooleanFunction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715B86-B7FF-611D-0EC6-4ACE7C5D2932}"/>
              </a:ext>
            </a:extLst>
          </p:cNvPr>
          <p:cNvSpPr txBox="1"/>
          <p:nvPr/>
        </p:nvSpPr>
        <p:spPr>
          <a:xfrm>
            <a:off x="5084467" y="2641880"/>
            <a:ext cx="1279037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Interoperability</a:t>
            </a:r>
          </a:p>
          <a:p>
            <a:r>
              <a:rPr lang="en-US" sz="800" dirty="0"/>
              <a:t>Export/Import </a:t>
            </a:r>
            <a:r>
              <a:rPr lang="en-US" sz="800" dirty="0">
                <a:sym typeface="Wingdings" pitchFamily="2" charset="2"/>
              </a:rPr>
              <a:t></a:t>
            </a:r>
            <a:br>
              <a:rPr lang="en-US" sz="800" dirty="0">
                <a:sym typeface="Wingdings" pitchFamily="2" charset="2"/>
              </a:rPr>
            </a:br>
            <a:r>
              <a:rPr lang="en-US" sz="800" dirty="0">
                <a:sym typeface="Wingdings" pitchFamily="2" charset="2"/>
              </a:rPr>
              <a:t>CANA, </a:t>
            </a:r>
            <a:r>
              <a:rPr lang="en-US" sz="800" dirty="0" err="1">
                <a:sym typeface="Wingdings" pitchFamily="2" charset="2"/>
              </a:rPr>
              <a:t>PyBoolNet</a:t>
            </a:r>
            <a:r>
              <a:rPr lang="en-US" sz="800" dirty="0">
                <a:sym typeface="Wingdings" pitchFamily="2" charset="2"/>
              </a:rPr>
              <a:t>, …</a:t>
            </a:r>
            <a:endParaRPr lang="en-US" sz="8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F164AEA-7EA9-8E24-5FA2-BB0FEB00F400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723986" y="2245519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519C661-BC02-A57D-0B10-50C9B361B8D5}"/>
              </a:ext>
            </a:extLst>
          </p:cNvPr>
          <p:cNvCxnSpPr>
            <a:cxnSpLocks/>
          </p:cNvCxnSpPr>
          <p:nvPr/>
        </p:nvCxnSpPr>
        <p:spPr>
          <a:xfrm>
            <a:off x="5743399" y="3186710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3026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7EC9E-7322-44B4-DF74-47B0AD2CD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07E38AE7-025E-3F1C-42EE-7EF17DAEBD02}"/>
              </a:ext>
            </a:extLst>
          </p:cNvPr>
          <p:cNvSpPr/>
          <p:nvPr/>
        </p:nvSpPr>
        <p:spPr>
          <a:xfrm>
            <a:off x="3716309" y="1061643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69E375E-7E20-2571-23BD-EBFDC5B52EDD}"/>
              </a:ext>
            </a:extLst>
          </p:cNvPr>
          <p:cNvSpPr/>
          <p:nvPr/>
        </p:nvSpPr>
        <p:spPr>
          <a:xfrm>
            <a:off x="525739" y="1090217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52EDB-2031-7665-3923-E5B5993B1B7A}"/>
              </a:ext>
            </a:extLst>
          </p:cNvPr>
          <p:cNvSpPr txBox="1"/>
          <p:nvPr/>
        </p:nvSpPr>
        <p:spPr>
          <a:xfrm>
            <a:off x="640505" y="1428274"/>
            <a:ext cx="2356083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Random Boolean Function Generators</a:t>
            </a:r>
          </a:p>
          <a:p>
            <a:r>
              <a:rPr lang="en-US" sz="800" dirty="0"/>
              <a:t>Sample functions with prescribed structural features uniformly at random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0391BC-A567-4AA6-B146-24F684DC7C4B}"/>
              </a:ext>
            </a:extLst>
          </p:cNvPr>
          <p:cNvSpPr txBox="1"/>
          <p:nvPr/>
        </p:nvSpPr>
        <p:spPr>
          <a:xfrm>
            <a:off x="640505" y="3558222"/>
            <a:ext cx="2346954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Function Analysis</a:t>
            </a:r>
            <a:br>
              <a:rPr lang="en-US" sz="1000" dirty="0"/>
            </a:br>
            <a:r>
              <a:rPr lang="en-US" sz="800" dirty="0"/>
              <a:t>canalization; collective canalization; symmetry; sensitivity; degeneracy; 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5A3C15-DA6E-0030-3CA8-281CD248ECEE}"/>
              </a:ext>
            </a:extLst>
          </p:cNvPr>
          <p:cNvSpPr txBox="1"/>
          <p:nvPr/>
        </p:nvSpPr>
        <p:spPr>
          <a:xfrm>
            <a:off x="3825048" y="3574573"/>
            <a:ext cx="2538463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Network Analysis</a:t>
            </a:r>
          </a:p>
          <a:p>
            <a:r>
              <a:rPr lang="en-US" sz="800" dirty="0"/>
              <a:t>attractors under synchronous &amp; asynchronous update; network motifs; stability &amp; robustness;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CA17D7-E1C9-6887-5A39-5E13A8559D88}"/>
              </a:ext>
            </a:extLst>
          </p:cNvPr>
          <p:cNvSpPr txBox="1"/>
          <p:nvPr/>
        </p:nvSpPr>
        <p:spPr>
          <a:xfrm>
            <a:off x="3825049" y="1428274"/>
            <a:ext cx="2538456" cy="85129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vl="1"/>
            <a:r>
              <a:rPr lang="en-US" sz="1000" dirty="0"/>
              <a:t>Random Boolean Network Generators</a:t>
            </a:r>
          </a:p>
          <a:p>
            <a:pPr lvl="1"/>
            <a:r>
              <a:rPr lang="en-US" sz="800" dirty="0"/>
              <a:t>Generate random Boolean networks of defined size, degree distribution, canalizing properties, bias, 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DE0923-6F4C-9C47-EB15-6B708E8D13B7}"/>
              </a:ext>
            </a:extLst>
          </p:cNvPr>
          <p:cNvSpPr txBox="1"/>
          <p:nvPr/>
        </p:nvSpPr>
        <p:spPr>
          <a:xfrm>
            <a:off x="2169720" y="2190509"/>
            <a:ext cx="2538465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Ensemble Experiments</a:t>
            </a:r>
          </a:p>
          <a:p>
            <a:r>
              <a:rPr lang="en-US" sz="800" dirty="0"/>
              <a:t>Systematic analysis of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F089599-FBE1-9120-0B48-5B67E543806C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813982" y="1973104"/>
            <a:ext cx="4565" cy="15851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F573A6-8AF2-4D88-EA9C-3FD69E919F1D}"/>
              </a:ext>
            </a:extLst>
          </p:cNvPr>
          <p:cNvCxnSpPr>
            <a:cxnSpLocks/>
          </p:cNvCxnSpPr>
          <p:nvPr/>
        </p:nvCxnSpPr>
        <p:spPr>
          <a:xfrm>
            <a:off x="5018225" y="2246476"/>
            <a:ext cx="0" cy="13107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2BEAD4-AB3F-F6AD-6CDA-BED74B79A387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2996588" y="1700689"/>
            <a:ext cx="828461" cy="1532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EDDB56A-C114-C385-569F-409B01C198D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987459" y="3830637"/>
            <a:ext cx="837589" cy="1635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BF53E0A-B02D-112A-A7D2-4396469776D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18547" y="1973104"/>
            <a:ext cx="399520" cy="60596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B489A06-47F0-6FF0-18B3-04BCBBF9F369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13982" y="3265436"/>
            <a:ext cx="404085" cy="2927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42C2428-94BC-9399-1EF7-32F96997761E}"/>
              </a:ext>
            </a:extLst>
          </p:cNvPr>
          <p:cNvCxnSpPr>
            <a:cxnSpLocks/>
          </p:cNvCxnSpPr>
          <p:nvPr/>
        </p:nvCxnSpPr>
        <p:spPr>
          <a:xfrm flipH="1" flipV="1">
            <a:off x="4725699" y="3241020"/>
            <a:ext cx="299965" cy="3387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D637304-8670-97DE-A479-776A5EFE60B2}"/>
              </a:ext>
            </a:extLst>
          </p:cNvPr>
          <p:cNvCxnSpPr>
            <a:cxnSpLocks/>
          </p:cNvCxnSpPr>
          <p:nvPr/>
        </p:nvCxnSpPr>
        <p:spPr>
          <a:xfrm flipH="1">
            <a:off x="4692254" y="2245519"/>
            <a:ext cx="329366" cy="3335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F424E94-092B-07C6-9A8F-8B9F8229CD77}"/>
              </a:ext>
            </a:extLst>
          </p:cNvPr>
          <p:cNvSpPr txBox="1"/>
          <p:nvPr/>
        </p:nvSpPr>
        <p:spPr>
          <a:xfrm>
            <a:off x="3912362" y="1153099"/>
            <a:ext cx="14318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BooleanNetwork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7915A2-B4AC-650F-E214-ABF8DA25ACC4}"/>
              </a:ext>
            </a:extLst>
          </p:cNvPr>
          <p:cNvSpPr txBox="1"/>
          <p:nvPr/>
        </p:nvSpPr>
        <p:spPr>
          <a:xfrm>
            <a:off x="715476" y="1153100"/>
            <a:ext cx="14542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BooleanFunction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C3FDDD-0928-63D0-8B7B-50CB28D80384}"/>
              </a:ext>
            </a:extLst>
          </p:cNvPr>
          <p:cNvSpPr txBox="1"/>
          <p:nvPr/>
        </p:nvSpPr>
        <p:spPr>
          <a:xfrm>
            <a:off x="5084467" y="2641880"/>
            <a:ext cx="1279037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Interoperability</a:t>
            </a:r>
          </a:p>
          <a:p>
            <a:r>
              <a:rPr lang="en-US" sz="800" dirty="0"/>
              <a:t>Export/Import </a:t>
            </a:r>
            <a:r>
              <a:rPr lang="en-US" sz="800" dirty="0">
                <a:sym typeface="Wingdings" pitchFamily="2" charset="2"/>
              </a:rPr>
              <a:t></a:t>
            </a:r>
            <a:br>
              <a:rPr lang="en-US" sz="800" dirty="0">
                <a:sym typeface="Wingdings" pitchFamily="2" charset="2"/>
              </a:rPr>
            </a:br>
            <a:r>
              <a:rPr lang="en-US" sz="800" dirty="0">
                <a:sym typeface="Wingdings" pitchFamily="2" charset="2"/>
              </a:rPr>
              <a:t>CANA, </a:t>
            </a:r>
            <a:r>
              <a:rPr lang="en-US" sz="800" dirty="0" err="1">
                <a:sym typeface="Wingdings" pitchFamily="2" charset="2"/>
              </a:rPr>
              <a:t>PyBoolNet</a:t>
            </a:r>
            <a:r>
              <a:rPr lang="en-US" sz="800" dirty="0">
                <a:sym typeface="Wingdings" pitchFamily="2" charset="2"/>
              </a:rPr>
              <a:t>, …</a:t>
            </a:r>
            <a:endParaRPr lang="en-US" sz="8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BE4D534-C544-7AB6-AAE7-54BE79E438F5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723986" y="2245519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685A585-E2F8-7127-FD1F-8B0AD9F7725F}"/>
              </a:ext>
            </a:extLst>
          </p:cNvPr>
          <p:cNvCxnSpPr>
            <a:cxnSpLocks/>
          </p:cNvCxnSpPr>
          <p:nvPr/>
        </p:nvCxnSpPr>
        <p:spPr>
          <a:xfrm>
            <a:off x="5743399" y="3186710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8560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9A9A4-1082-FBC0-54AE-FE2376B69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DAE05BDB-37EF-1776-CE64-E37C4D5AB336}"/>
              </a:ext>
            </a:extLst>
          </p:cNvPr>
          <p:cNvSpPr/>
          <p:nvPr/>
        </p:nvSpPr>
        <p:spPr>
          <a:xfrm>
            <a:off x="3716309" y="1061643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EDE5DB8-D1DE-5625-9952-54C8436DF443}"/>
              </a:ext>
            </a:extLst>
          </p:cNvPr>
          <p:cNvSpPr/>
          <p:nvPr/>
        </p:nvSpPr>
        <p:spPr>
          <a:xfrm>
            <a:off x="525739" y="1090217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69CE56-7B43-38DB-A4D7-2CC68BD4AF2F}"/>
              </a:ext>
            </a:extLst>
          </p:cNvPr>
          <p:cNvSpPr txBox="1"/>
          <p:nvPr/>
        </p:nvSpPr>
        <p:spPr>
          <a:xfrm>
            <a:off x="640505" y="1428274"/>
            <a:ext cx="2356083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Random Boolean Function Generators</a:t>
            </a:r>
          </a:p>
          <a:p>
            <a:r>
              <a:rPr lang="en-US" sz="800" dirty="0"/>
              <a:t>Sample functions with prescribed structural features uniformly at random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BEDA5E-92FC-4ED3-B196-392579CE3D88}"/>
              </a:ext>
            </a:extLst>
          </p:cNvPr>
          <p:cNvSpPr txBox="1"/>
          <p:nvPr/>
        </p:nvSpPr>
        <p:spPr>
          <a:xfrm>
            <a:off x="640505" y="3558222"/>
            <a:ext cx="2346954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Function Analysis</a:t>
            </a:r>
            <a:br>
              <a:rPr lang="en-US" sz="1000" dirty="0"/>
            </a:br>
            <a:r>
              <a:rPr lang="en-US" sz="800" dirty="0"/>
              <a:t>canalization; collective canalization; symmetry; sensitivity; degeneracy; 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3F7244-04F4-800D-28DE-68B66325DF9D}"/>
              </a:ext>
            </a:extLst>
          </p:cNvPr>
          <p:cNvSpPr txBox="1"/>
          <p:nvPr/>
        </p:nvSpPr>
        <p:spPr>
          <a:xfrm>
            <a:off x="3825048" y="3574573"/>
            <a:ext cx="2538463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Network Analysis</a:t>
            </a:r>
          </a:p>
          <a:p>
            <a:r>
              <a:rPr lang="en-US" sz="800" dirty="0"/>
              <a:t>attractors under synchronous &amp; asynchronous update; network motifs; stability &amp; robustness;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FE043E-DFBC-160A-7040-D5B8CD3BEC3C}"/>
              </a:ext>
            </a:extLst>
          </p:cNvPr>
          <p:cNvSpPr txBox="1"/>
          <p:nvPr/>
        </p:nvSpPr>
        <p:spPr>
          <a:xfrm>
            <a:off x="3825049" y="1428274"/>
            <a:ext cx="2538456" cy="85129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vl="1"/>
            <a:r>
              <a:rPr lang="en-US" sz="1000" dirty="0"/>
              <a:t>Random Boolean Network Generators</a:t>
            </a:r>
          </a:p>
          <a:p>
            <a:pPr lvl="1"/>
            <a:r>
              <a:rPr lang="en-US" sz="800" dirty="0"/>
              <a:t>Generate random Boolean networks of defined size, degree distribution, canalizing properties, bias, 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352D68-4734-1AC7-EF41-5FF1ED52B734}"/>
              </a:ext>
            </a:extLst>
          </p:cNvPr>
          <p:cNvSpPr txBox="1"/>
          <p:nvPr/>
        </p:nvSpPr>
        <p:spPr>
          <a:xfrm>
            <a:off x="2169720" y="2190509"/>
            <a:ext cx="2538465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Ensemble Experiments</a:t>
            </a:r>
          </a:p>
          <a:p>
            <a:r>
              <a:rPr lang="en-US" sz="800" dirty="0"/>
              <a:t>Systematic analysis of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35776B-8BD5-A5F9-944D-10ADCB069A1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813982" y="1973104"/>
            <a:ext cx="4565" cy="15851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4249617-F85A-F2CA-FC1A-9A7F3A914A49}"/>
              </a:ext>
            </a:extLst>
          </p:cNvPr>
          <p:cNvCxnSpPr>
            <a:cxnSpLocks/>
          </p:cNvCxnSpPr>
          <p:nvPr/>
        </p:nvCxnSpPr>
        <p:spPr>
          <a:xfrm>
            <a:off x="5018225" y="2246476"/>
            <a:ext cx="0" cy="13107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1F11BA-7BA2-5C58-2F84-994EB087396E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2996588" y="1700689"/>
            <a:ext cx="828461" cy="1532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724C952-B33C-AB8B-42B8-2E3ED9A9A97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987459" y="3830637"/>
            <a:ext cx="837589" cy="1635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C9E2167-B8B5-36AB-956E-44977017B8B5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18547" y="1973104"/>
            <a:ext cx="399520" cy="60596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E37970C-1A2B-A40D-F3A5-1E4D8821A173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13982" y="3265436"/>
            <a:ext cx="404085" cy="2927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5B12348-E175-0CDF-9E26-CA48940B3B42}"/>
              </a:ext>
            </a:extLst>
          </p:cNvPr>
          <p:cNvCxnSpPr>
            <a:cxnSpLocks/>
          </p:cNvCxnSpPr>
          <p:nvPr/>
        </p:nvCxnSpPr>
        <p:spPr>
          <a:xfrm flipH="1" flipV="1">
            <a:off x="4725699" y="3241020"/>
            <a:ext cx="299965" cy="3387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7F8B623-0783-D5FD-2821-D2A152F65454}"/>
              </a:ext>
            </a:extLst>
          </p:cNvPr>
          <p:cNvCxnSpPr>
            <a:cxnSpLocks/>
          </p:cNvCxnSpPr>
          <p:nvPr/>
        </p:nvCxnSpPr>
        <p:spPr>
          <a:xfrm flipH="1">
            <a:off x="4692254" y="2245519"/>
            <a:ext cx="329366" cy="3335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95B80F1-D9E0-8617-5C32-65544A6D8B73}"/>
              </a:ext>
            </a:extLst>
          </p:cNvPr>
          <p:cNvSpPr txBox="1"/>
          <p:nvPr/>
        </p:nvSpPr>
        <p:spPr>
          <a:xfrm>
            <a:off x="3912362" y="1153099"/>
            <a:ext cx="14318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BooleanNetwork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B8648D-EE53-7ABF-C3D6-83E81490D0DF}"/>
              </a:ext>
            </a:extLst>
          </p:cNvPr>
          <p:cNvSpPr txBox="1"/>
          <p:nvPr/>
        </p:nvSpPr>
        <p:spPr>
          <a:xfrm>
            <a:off x="715476" y="1153100"/>
            <a:ext cx="14542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BooleanFunction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14E69B-95C9-B191-43C8-A733B2A30931}"/>
              </a:ext>
            </a:extLst>
          </p:cNvPr>
          <p:cNvSpPr txBox="1"/>
          <p:nvPr/>
        </p:nvSpPr>
        <p:spPr>
          <a:xfrm>
            <a:off x="5084467" y="2641880"/>
            <a:ext cx="1279037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Interoperability</a:t>
            </a:r>
          </a:p>
          <a:p>
            <a:r>
              <a:rPr lang="en-US" sz="800" dirty="0"/>
              <a:t>Export/Import </a:t>
            </a:r>
            <a:r>
              <a:rPr lang="en-US" sz="800" dirty="0">
                <a:sym typeface="Wingdings" pitchFamily="2" charset="2"/>
              </a:rPr>
              <a:t></a:t>
            </a:r>
            <a:br>
              <a:rPr lang="en-US" sz="800" dirty="0">
                <a:sym typeface="Wingdings" pitchFamily="2" charset="2"/>
              </a:rPr>
            </a:br>
            <a:r>
              <a:rPr lang="en-US" sz="800" dirty="0">
                <a:sym typeface="Wingdings" pitchFamily="2" charset="2"/>
              </a:rPr>
              <a:t>CANA, </a:t>
            </a:r>
            <a:r>
              <a:rPr lang="en-US" sz="800" dirty="0" err="1">
                <a:sym typeface="Wingdings" pitchFamily="2" charset="2"/>
              </a:rPr>
              <a:t>PyBoolNet</a:t>
            </a:r>
            <a:r>
              <a:rPr lang="en-US" sz="800" dirty="0">
                <a:sym typeface="Wingdings" pitchFamily="2" charset="2"/>
              </a:rPr>
              <a:t>, …</a:t>
            </a:r>
            <a:endParaRPr lang="en-US" sz="8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C6DA81-A99A-379C-C36C-C58F7162FFC6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723986" y="2245519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0C0977D-BEE6-D88B-FDCB-5A58A8EBEB63}"/>
              </a:ext>
            </a:extLst>
          </p:cNvPr>
          <p:cNvCxnSpPr>
            <a:cxnSpLocks/>
          </p:cNvCxnSpPr>
          <p:nvPr/>
        </p:nvCxnSpPr>
        <p:spPr>
          <a:xfrm>
            <a:off x="5743399" y="3186710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BEF3BA4-62FE-10A2-F798-432A682F68A0}"/>
              </a:ext>
            </a:extLst>
          </p:cNvPr>
          <p:cNvSpPr txBox="1"/>
          <p:nvPr/>
        </p:nvSpPr>
        <p:spPr>
          <a:xfrm>
            <a:off x="6782291" y="2510287"/>
            <a:ext cx="2356083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User Input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Network parameters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Constraints on topology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Constraints on functions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Optional: Network for null model matching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DFA139-0033-1D87-5965-1612A7046E0A}"/>
              </a:ext>
            </a:extLst>
          </p:cNvPr>
          <p:cNvSpPr txBox="1"/>
          <p:nvPr/>
        </p:nvSpPr>
        <p:spPr>
          <a:xfrm>
            <a:off x="6782290" y="3492690"/>
            <a:ext cx="2356083" cy="136207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Generation</a:t>
            </a:r>
            <a:r>
              <a:rPr lang="en-US" sz="8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dirty="0"/>
              <a:t>Random Boolean Function Generators </a:t>
            </a:r>
            <a:br>
              <a:rPr lang="en-US" sz="800" dirty="0"/>
            </a:br>
            <a:r>
              <a:rPr lang="en-US" sz="800" i="1" dirty="0"/>
              <a:t>Sample functions with prescribed structural features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dirty="0"/>
              <a:t>Random Boolean Network Generators</a:t>
            </a:r>
            <a:br>
              <a:rPr lang="en-US" sz="800" dirty="0"/>
            </a:br>
            <a:r>
              <a:rPr lang="en-US" sz="800" i="1" dirty="0"/>
              <a:t>Generate networks with controlled properties</a:t>
            </a:r>
            <a:r>
              <a:rPr lang="en-US" sz="8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Output: Single networks, large ensembles, or customized null models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E02E2B-C70B-A642-1E2A-F43C49D2DC31}"/>
              </a:ext>
            </a:extLst>
          </p:cNvPr>
          <p:cNvSpPr txBox="1"/>
          <p:nvPr/>
        </p:nvSpPr>
        <p:spPr>
          <a:xfrm>
            <a:off x="9448370" y="3866458"/>
            <a:ext cx="2356083" cy="95345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Analysis</a:t>
            </a:r>
            <a:r>
              <a:rPr lang="en-US" sz="8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Function-level metrics </a:t>
            </a:r>
            <a:br>
              <a:rPr lang="en-US" sz="800" dirty="0"/>
            </a:br>
            <a:r>
              <a:rPr lang="en-US" sz="800" i="1" dirty="0"/>
              <a:t>canalization, redundancy, symmetry, sensitivity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Network-level metrics </a:t>
            </a:r>
            <a:br>
              <a:rPr lang="en-US" sz="800" dirty="0"/>
            </a:br>
            <a:r>
              <a:rPr lang="en-US" sz="800" i="1" dirty="0"/>
              <a:t>attractors, robustness, motifs, coherence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27E6E4-2E41-6DC0-D66A-4CF32E7E8EBA}"/>
              </a:ext>
            </a:extLst>
          </p:cNvPr>
          <p:cNvSpPr txBox="1"/>
          <p:nvPr/>
        </p:nvSpPr>
        <p:spPr>
          <a:xfrm>
            <a:off x="9448369" y="2337766"/>
            <a:ext cx="2356083" cy="136207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Generation</a:t>
            </a:r>
            <a:r>
              <a:rPr lang="en-US" sz="8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dirty="0"/>
              <a:t>Random Boolean Function Generators </a:t>
            </a:r>
            <a:br>
              <a:rPr lang="en-US" sz="800" dirty="0"/>
            </a:br>
            <a:r>
              <a:rPr lang="en-US" sz="800" i="1" dirty="0"/>
              <a:t>Sample functions with prescribed structural features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dirty="0"/>
              <a:t>Random Boolean Network Generators</a:t>
            </a:r>
            <a:br>
              <a:rPr lang="en-US" sz="800" dirty="0"/>
            </a:br>
            <a:r>
              <a:rPr lang="en-US" sz="800" i="1" dirty="0"/>
              <a:t>Generate networks with controlled properties</a:t>
            </a:r>
            <a:r>
              <a:rPr lang="en-US" sz="8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Output: Single networks, large ensembles, or customized null models</a:t>
            </a:r>
          </a:p>
        </p:txBody>
      </p:sp>
    </p:spTree>
    <p:extLst>
      <p:ext uri="{BB962C8B-B14F-4D97-AF65-F5344CB8AC3E}">
        <p14:creationId xmlns:p14="http://schemas.microsoft.com/office/powerpoint/2010/main" val="1824653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4996</TotalTime>
  <Words>1203</Words>
  <Application>Microsoft Macintosh PowerPoint</Application>
  <PresentationFormat>Widescreen</PresentationFormat>
  <Paragraphs>170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Kadelka, Claus [MATH]</dc:creator>
  <cp:lastModifiedBy>Kadelka, Claus [MATH]</cp:lastModifiedBy>
  <cp:revision>11</cp:revision>
  <cp:lastPrinted>2026-02-10T06:00:52Z</cp:lastPrinted>
  <dcterms:created xsi:type="dcterms:W3CDTF">2025-08-21T05:48:11Z</dcterms:created>
  <dcterms:modified xsi:type="dcterms:W3CDTF">2026-02-13T16:12:19Z</dcterms:modified>
</cp:coreProperties>
</file>