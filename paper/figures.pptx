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71" r:id="rId12"/>
    <p:sldId id="272" r:id="rId13"/>
    <p:sldId id="267" r:id="rId14"/>
    <p:sldId id="269" r:id="rId15"/>
    <p:sldId id="265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E655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CCF9A6-9404-C14C-B303-F06C2C4D888A}" v="7" dt="2026-05-15T16:04:44.4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60"/>
    <p:restoredTop sz="94658"/>
  </p:normalViewPr>
  <p:slideViewPr>
    <p:cSldViewPr snapToGrid="0">
      <p:cViewPr>
        <p:scale>
          <a:sx n="140" d="100"/>
          <a:sy n="140" d="100"/>
        </p:scale>
        <p:origin x="-504" y="-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delka, Claus [MATH]" userId="3587954921_tp_box_2" providerId="OAuth2" clId="{3A5D34D3-13CC-588F-87D8-4157F9E149E9}"/>
    <pc:docChg chg="undo custSel addSld delSld modSld">
      <pc:chgData name="Kadelka, Claus [MATH]" userId="3587954921_tp_box_2" providerId="OAuth2" clId="{3A5D34D3-13CC-588F-87D8-4157F9E149E9}" dt="2026-05-15T16:06:16.987" v="5347" actId="478"/>
      <pc:docMkLst>
        <pc:docMk/>
      </pc:docMkLst>
      <pc:sldChg chg="modNotesTx">
        <pc:chgData name="Kadelka, Claus [MATH]" userId="3587954921_tp_box_2" providerId="OAuth2" clId="{3A5D34D3-13CC-588F-87D8-4157F9E149E9}" dt="2026-05-14T15:15:13.411" v="3948" actId="20577"/>
        <pc:sldMkLst>
          <pc:docMk/>
          <pc:sldMk cId="1259902216" sldId="266"/>
        </pc:sldMkLst>
      </pc:sldChg>
      <pc:sldChg chg="modSp add del mod">
        <pc:chgData name="Kadelka, Claus [MATH]" userId="3587954921_tp_box_2" providerId="OAuth2" clId="{3A5D34D3-13CC-588F-87D8-4157F9E149E9}" dt="2026-05-14T15:15:00.556" v="3913" actId="2696"/>
        <pc:sldMkLst>
          <pc:docMk/>
          <pc:sldMk cId="2410410772" sldId="270"/>
        </pc:sldMkLst>
        <pc:spChg chg="mod">
          <ac:chgData name="Kadelka, Claus [MATH]" userId="3587954921_tp_box_2" providerId="OAuth2" clId="{3A5D34D3-13CC-588F-87D8-4157F9E149E9}" dt="2026-05-14T15:03:11.342" v="3911" actId="115"/>
          <ac:spMkLst>
            <pc:docMk/>
            <pc:sldMk cId="2410410772" sldId="270"/>
            <ac:spMk id="17" creationId="{F534D601-0294-63F7-FDAA-09C6BA5F44F4}"/>
          </ac:spMkLst>
        </pc:spChg>
        <pc:spChg chg="mod">
          <ac:chgData name="Kadelka, Claus [MATH]" userId="3587954921_tp_box_2" providerId="OAuth2" clId="{3A5D34D3-13CC-588F-87D8-4157F9E149E9}" dt="2026-05-14T15:02:10.321" v="3908" actId="20577"/>
          <ac:spMkLst>
            <pc:docMk/>
            <pc:sldMk cId="2410410772" sldId="270"/>
            <ac:spMk id="18" creationId="{CCACBEF7-EFD2-B602-7A67-D9AC080AB99C}"/>
          </ac:spMkLst>
        </pc:spChg>
        <pc:spChg chg="mod">
          <ac:chgData name="Kadelka, Claus [MATH]" userId="3587954921_tp_box_2" providerId="OAuth2" clId="{3A5D34D3-13CC-588F-87D8-4157F9E149E9}" dt="2026-05-14T15:02:35.839" v="3909" actId="1076"/>
          <ac:spMkLst>
            <pc:docMk/>
            <pc:sldMk cId="2410410772" sldId="270"/>
            <ac:spMk id="19" creationId="{27B29B3B-DC44-A894-362C-D8AB2EBBC617}"/>
          </ac:spMkLst>
        </pc:spChg>
        <pc:cxnChg chg="mod">
          <ac:chgData name="Kadelka, Claus [MATH]" userId="3587954921_tp_box_2" providerId="OAuth2" clId="{3A5D34D3-13CC-588F-87D8-4157F9E149E9}" dt="2026-05-14T15:00:37.609" v="3814" actId="20577"/>
          <ac:cxnSpMkLst>
            <pc:docMk/>
            <pc:sldMk cId="2410410772" sldId="270"/>
            <ac:cxnSpMk id="24" creationId="{BEAAA0AB-18BD-33C9-06D1-7E7014E2116A}"/>
          </ac:cxnSpMkLst>
        </pc:cxnChg>
        <pc:cxnChg chg="mod">
          <ac:chgData name="Kadelka, Claus [MATH]" userId="3587954921_tp_box_2" providerId="OAuth2" clId="{3A5D34D3-13CC-588F-87D8-4157F9E149E9}" dt="2026-05-14T15:00:37.609" v="3814" actId="20577"/>
          <ac:cxnSpMkLst>
            <pc:docMk/>
            <pc:sldMk cId="2410410772" sldId="270"/>
            <ac:cxnSpMk id="29" creationId="{0F4F8E4B-124D-CD62-9718-74E225AC9C69}"/>
          </ac:cxnSpMkLst>
        </pc:cxnChg>
      </pc:sldChg>
      <pc:sldChg chg="addSp delSp modSp add mod modNotesTx">
        <pc:chgData name="Kadelka, Claus [MATH]" userId="3587954921_tp_box_2" providerId="OAuth2" clId="{3A5D34D3-13CC-588F-87D8-4157F9E149E9}" dt="2026-05-14T16:02:42.075" v="5262" actId="115"/>
        <pc:sldMkLst>
          <pc:docMk/>
          <pc:sldMk cId="2913835367" sldId="271"/>
        </pc:sldMkLst>
        <pc:spChg chg="mod">
          <ac:chgData name="Kadelka, Claus [MATH]" userId="3587954921_tp_box_2" providerId="OAuth2" clId="{3A5D34D3-13CC-588F-87D8-4157F9E149E9}" dt="2026-05-14T16:02:35.355" v="5259" actId="115"/>
          <ac:spMkLst>
            <pc:docMk/>
            <pc:sldMk cId="2913835367" sldId="271"/>
            <ac:spMk id="2" creationId="{FC30D08E-44AE-D0A2-1AF4-8A2281AA45A1}"/>
          </ac:spMkLst>
        </pc:spChg>
        <pc:spChg chg="add del mod">
          <ac:chgData name="Kadelka, Claus [MATH]" userId="3587954921_tp_box_2" providerId="OAuth2" clId="{3A5D34D3-13CC-588F-87D8-4157F9E149E9}" dt="2026-05-14T15:25:27.522" v="4426" actId="478"/>
          <ac:spMkLst>
            <pc:docMk/>
            <pc:sldMk cId="2913835367" sldId="271"/>
            <ac:spMk id="3" creationId="{CE019D2E-665A-2D1B-3438-DDCC40A8D8F6}"/>
          </ac:spMkLst>
        </pc:spChg>
        <pc:spChg chg="add del mod">
          <ac:chgData name="Kadelka, Claus [MATH]" userId="3587954921_tp_box_2" providerId="OAuth2" clId="{3A5D34D3-13CC-588F-87D8-4157F9E149E9}" dt="2026-05-14T15:25:29.424" v="4427" actId="478"/>
          <ac:spMkLst>
            <pc:docMk/>
            <pc:sldMk cId="2913835367" sldId="271"/>
            <ac:spMk id="5" creationId="{127B1F48-1A14-FFAA-7B9D-BA465B86EDFD}"/>
          </ac:spMkLst>
        </pc:spChg>
        <pc:spChg chg="add del mod">
          <ac:chgData name="Kadelka, Claus [MATH]" userId="3587954921_tp_box_2" providerId="OAuth2" clId="{3A5D34D3-13CC-588F-87D8-4157F9E149E9}" dt="2026-05-14T15:38:21.645" v="4705" actId="478"/>
          <ac:spMkLst>
            <pc:docMk/>
            <pc:sldMk cId="2913835367" sldId="271"/>
            <ac:spMk id="10" creationId="{4AF59EAA-708D-6A52-C68C-C20D8A68E056}"/>
          </ac:spMkLst>
        </pc:spChg>
        <pc:spChg chg="add del mod">
          <ac:chgData name="Kadelka, Claus [MATH]" userId="3587954921_tp_box_2" providerId="OAuth2" clId="{3A5D34D3-13CC-588F-87D8-4157F9E149E9}" dt="2026-05-14T15:44:07.192" v="4939" actId="478"/>
          <ac:spMkLst>
            <pc:docMk/>
            <pc:sldMk cId="2913835367" sldId="271"/>
            <ac:spMk id="16" creationId="{A8C87325-C84B-D05C-FE5B-7A87EDB2161E}"/>
          </ac:spMkLst>
        </pc:spChg>
        <pc:spChg chg="mod">
          <ac:chgData name="Kadelka, Claus [MATH]" userId="3587954921_tp_box_2" providerId="OAuth2" clId="{3A5D34D3-13CC-588F-87D8-4157F9E149E9}" dt="2026-05-14T16:02:40.326" v="5261" actId="115"/>
          <ac:spMkLst>
            <pc:docMk/>
            <pc:sldMk cId="2913835367" sldId="271"/>
            <ac:spMk id="17" creationId="{DCE14F3E-CB16-C533-3B63-D46FB2C17C1D}"/>
          </ac:spMkLst>
        </pc:spChg>
        <pc:spChg chg="mod">
          <ac:chgData name="Kadelka, Claus [MATH]" userId="3587954921_tp_box_2" providerId="OAuth2" clId="{3A5D34D3-13CC-588F-87D8-4157F9E149E9}" dt="2026-05-14T16:02:42.075" v="5262" actId="115"/>
          <ac:spMkLst>
            <pc:docMk/>
            <pc:sldMk cId="2913835367" sldId="271"/>
            <ac:spMk id="18" creationId="{895D657E-674E-54F6-3B4C-5AE3527EB8EF}"/>
          </ac:spMkLst>
        </pc:spChg>
        <pc:spChg chg="mod">
          <ac:chgData name="Kadelka, Claus [MATH]" userId="3587954921_tp_box_2" providerId="OAuth2" clId="{3A5D34D3-13CC-588F-87D8-4157F9E149E9}" dt="2026-05-14T16:02:37.867" v="5260" actId="115"/>
          <ac:spMkLst>
            <pc:docMk/>
            <pc:sldMk cId="2913835367" sldId="271"/>
            <ac:spMk id="19" creationId="{1F02FE9E-4FD2-F921-5BA0-18BE9218DF83}"/>
          </ac:spMkLst>
        </pc:spChg>
        <pc:spChg chg="add del mod">
          <ac:chgData name="Kadelka, Claus [MATH]" userId="3587954921_tp_box_2" providerId="OAuth2" clId="{3A5D34D3-13CC-588F-87D8-4157F9E149E9}" dt="2026-05-14T15:43:19.304" v="4920" actId="478"/>
          <ac:spMkLst>
            <pc:docMk/>
            <pc:sldMk cId="2913835367" sldId="271"/>
            <ac:spMk id="33" creationId="{4403BADF-E0D6-3151-995A-8D18E46A2E53}"/>
          </ac:spMkLst>
        </pc:spChg>
        <pc:spChg chg="add mod">
          <ac:chgData name="Kadelka, Claus [MATH]" userId="3587954921_tp_box_2" providerId="OAuth2" clId="{3A5D34D3-13CC-588F-87D8-4157F9E149E9}" dt="2026-05-14T16:01:49.796" v="5255" actId="1037"/>
          <ac:spMkLst>
            <pc:docMk/>
            <pc:sldMk cId="2913835367" sldId="271"/>
            <ac:spMk id="35" creationId="{3A9E022B-7D34-EC66-3B46-EB1C5CAC4AA2}"/>
          </ac:spMkLst>
        </pc:spChg>
        <pc:cxnChg chg="mod">
          <ac:chgData name="Kadelka, Claus [MATH]" userId="3587954921_tp_box_2" providerId="OAuth2" clId="{3A5D34D3-13CC-588F-87D8-4157F9E149E9}" dt="2026-05-14T16:02:35.355" v="5259" actId="115"/>
          <ac:cxnSpMkLst>
            <pc:docMk/>
            <pc:sldMk cId="2913835367" sldId="271"/>
            <ac:cxnSpMk id="20" creationId="{21035FF3-B2F8-1970-41DC-0EC573D38B69}"/>
          </ac:cxnSpMkLst>
        </pc:cxnChg>
        <pc:cxnChg chg="mod">
          <ac:chgData name="Kadelka, Claus [MATH]" userId="3587954921_tp_box_2" providerId="OAuth2" clId="{3A5D34D3-13CC-588F-87D8-4157F9E149E9}" dt="2026-05-14T16:02:01.781" v="5257" actId="14100"/>
          <ac:cxnSpMkLst>
            <pc:docMk/>
            <pc:sldMk cId="2913835367" sldId="271"/>
            <ac:cxnSpMk id="24" creationId="{EF67EF4C-4E39-E91C-F453-CC39F99ABB1D}"/>
          </ac:cxnSpMkLst>
        </pc:cxnChg>
        <pc:cxnChg chg="mod">
          <ac:chgData name="Kadelka, Claus [MATH]" userId="3587954921_tp_box_2" providerId="OAuth2" clId="{3A5D34D3-13CC-588F-87D8-4157F9E149E9}" dt="2026-05-14T16:02:42.075" v="5262" actId="115"/>
          <ac:cxnSpMkLst>
            <pc:docMk/>
            <pc:sldMk cId="2913835367" sldId="271"/>
            <ac:cxnSpMk id="29" creationId="{115EB058-C45B-FB02-3C97-D78E7C1821CB}"/>
          </ac:cxnSpMkLst>
        </pc:cxnChg>
        <pc:cxnChg chg="add mod">
          <ac:chgData name="Kadelka, Claus [MATH]" userId="3587954921_tp_box_2" providerId="OAuth2" clId="{3A5D34D3-13CC-588F-87D8-4157F9E149E9}" dt="2026-05-14T16:01:36.735" v="5244" actId="14100"/>
          <ac:cxnSpMkLst>
            <pc:docMk/>
            <pc:sldMk cId="2913835367" sldId="271"/>
            <ac:cxnSpMk id="30" creationId="{2025B2D3-15E3-475D-A8AE-69940803CA2C}"/>
          </ac:cxnSpMkLst>
        </pc:cxnChg>
      </pc:sldChg>
      <pc:sldChg chg="addSp delSp modSp new mod">
        <pc:chgData name="Kadelka, Claus [MATH]" userId="3587954921_tp_box_2" providerId="OAuth2" clId="{3A5D34D3-13CC-588F-87D8-4157F9E149E9}" dt="2026-05-15T16:06:16.987" v="5347" actId="478"/>
        <pc:sldMkLst>
          <pc:docMk/>
          <pc:sldMk cId="804569849" sldId="272"/>
        </pc:sldMkLst>
        <pc:spChg chg="del">
          <ac:chgData name="Kadelka, Claus [MATH]" userId="3587954921_tp_box_2" providerId="OAuth2" clId="{3A5D34D3-13CC-588F-87D8-4157F9E149E9}" dt="2026-05-15T16:00:57.530" v="5264" actId="478"/>
          <ac:spMkLst>
            <pc:docMk/>
            <pc:sldMk cId="804569849" sldId="272"/>
            <ac:spMk id="2" creationId="{7CDA06DF-CBEF-B4F8-A12D-1E5AE6F35AB7}"/>
          </ac:spMkLst>
        </pc:spChg>
        <pc:spChg chg="del">
          <ac:chgData name="Kadelka, Claus [MATH]" userId="3587954921_tp_box_2" providerId="OAuth2" clId="{3A5D34D3-13CC-588F-87D8-4157F9E149E9}" dt="2026-05-15T16:00:57.530" v="5264" actId="478"/>
          <ac:spMkLst>
            <pc:docMk/>
            <pc:sldMk cId="804569849" sldId="272"/>
            <ac:spMk id="3" creationId="{4B374062-2BCC-E057-DAF3-A5CE8DD207D9}"/>
          </ac:spMkLst>
        </pc:spChg>
        <pc:spChg chg="add mod">
          <ac:chgData name="Kadelka, Claus [MATH]" userId="3587954921_tp_box_2" providerId="OAuth2" clId="{3A5D34D3-13CC-588F-87D8-4157F9E149E9}" dt="2026-05-15T16:01:15.003" v="5269" actId="2085"/>
          <ac:spMkLst>
            <pc:docMk/>
            <pc:sldMk cId="804569849" sldId="272"/>
            <ac:spMk id="6" creationId="{8EC4F81C-E0FA-D9DB-3359-6530B4E5EF7B}"/>
          </ac:spMkLst>
        </pc:spChg>
        <pc:spChg chg="add mod">
          <ac:chgData name="Kadelka, Claus [MATH]" userId="3587954921_tp_box_2" providerId="OAuth2" clId="{3A5D34D3-13CC-588F-87D8-4157F9E149E9}" dt="2026-05-15T16:01:18.157" v="5271" actId="1076"/>
          <ac:spMkLst>
            <pc:docMk/>
            <pc:sldMk cId="804569849" sldId="272"/>
            <ac:spMk id="7" creationId="{2BC45785-160F-0C54-C627-6B9882E9A523}"/>
          </ac:spMkLst>
        </pc:spChg>
        <pc:spChg chg="add mod">
          <ac:chgData name="Kadelka, Claus [MATH]" userId="3587954921_tp_box_2" providerId="OAuth2" clId="{3A5D34D3-13CC-588F-87D8-4157F9E149E9}" dt="2026-05-15T16:02:04.542" v="5284" actId="255"/>
          <ac:spMkLst>
            <pc:docMk/>
            <pc:sldMk cId="804569849" sldId="272"/>
            <ac:spMk id="8" creationId="{E6B2BB3E-EF70-C1CB-4761-43E99493E6F2}"/>
          </ac:spMkLst>
        </pc:spChg>
        <pc:spChg chg="add mod">
          <ac:chgData name="Kadelka, Claus [MATH]" userId="3587954921_tp_box_2" providerId="OAuth2" clId="{3A5D34D3-13CC-588F-87D8-4157F9E149E9}" dt="2026-05-15T16:02:14.930" v="5293" actId="20577"/>
          <ac:spMkLst>
            <pc:docMk/>
            <pc:sldMk cId="804569849" sldId="272"/>
            <ac:spMk id="9" creationId="{21F99191-2920-CA24-0B07-E479DC7B8B5E}"/>
          </ac:spMkLst>
        </pc:spChg>
        <pc:spChg chg="add mod">
          <ac:chgData name="Kadelka, Claus [MATH]" userId="3587954921_tp_box_2" providerId="OAuth2" clId="{3A5D34D3-13CC-588F-87D8-4157F9E149E9}" dt="2026-05-15T16:02:34.270" v="5299" actId="1076"/>
          <ac:spMkLst>
            <pc:docMk/>
            <pc:sldMk cId="804569849" sldId="272"/>
            <ac:spMk id="10" creationId="{6B8B6525-19F8-6D67-11F9-17BF954D0C89}"/>
          </ac:spMkLst>
        </pc:spChg>
        <pc:spChg chg="add mod">
          <ac:chgData name="Kadelka, Claus [MATH]" userId="3587954921_tp_box_2" providerId="OAuth2" clId="{3A5D34D3-13CC-588F-87D8-4157F9E149E9}" dt="2026-05-15T16:04:02.374" v="5329" actId="1035"/>
          <ac:spMkLst>
            <pc:docMk/>
            <pc:sldMk cId="804569849" sldId="272"/>
            <ac:spMk id="11" creationId="{E36596A4-FA80-E96E-CC1C-1E53B5F0EC25}"/>
          </ac:spMkLst>
        </pc:spChg>
        <pc:spChg chg="add mod">
          <ac:chgData name="Kadelka, Claus [MATH]" userId="3587954921_tp_box_2" providerId="OAuth2" clId="{3A5D34D3-13CC-588F-87D8-4157F9E149E9}" dt="2026-05-15T16:03:58.660" v="5324" actId="1038"/>
          <ac:spMkLst>
            <pc:docMk/>
            <pc:sldMk cId="804569849" sldId="272"/>
            <ac:spMk id="12" creationId="{567D6CF0-CA07-F0DD-89EA-7627D4B53499}"/>
          </ac:spMkLst>
        </pc:spChg>
        <pc:spChg chg="add mod">
          <ac:chgData name="Kadelka, Claus [MATH]" userId="3587954921_tp_box_2" providerId="OAuth2" clId="{3A5D34D3-13CC-588F-87D8-4157F9E149E9}" dt="2026-05-15T16:03:30.453" v="5321" actId="20577"/>
          <ac:spMkLst>
            <pc:docMk/>
            <pc:sldMk cId="804569849" sldId="272"/>
            <ac:spMk id="13" creationId="{EBA34549-F073-D6B9-B2B5-0A0E95FF6600}"/>
          </ac:spMkLst>
        </pc:spChg>
        <pc:spChg chg="add del mod">
          <ac:chgData name="Kadelka, Claus [MATH]" userId="3587954921_tp_box_2" providerId="OAuth2" clId="{3A5D34D3-13CC-588F-87D8-4157F9E149E9}" dt="2026-05-15T16:05:32.688" v="5344" actId="478"/>
          <ac:spMkLst>
            <pc:docMk/>
            <pc:sldMk cId="804569849" sldId="272"/>
            <ac:spMk id="14" creationId="{FA4741D8-0DD4-748C-3B15-2731B5293C1D}"/>
          </ac:spMkLst>
        </pc:spChg>
        <pc:spChg chg="add del mod">
          <ac:chgData name="Kadelka, Claus [MATH]" userId="3587954921_tp_box_2" providerId="OAuth2" clId="{3A5D34D3-13CC-588F-87D8-4157F9E149E9}" dt="2026-05-15T16:06:16.987" v="5347" actId="478"/>
          <ac:spMkLst>
            <pc:docMk/>
            <pc:sldMk cId="804569849" sldId="272"/>
            <ac:spMk id="15" creationId="{63D537EF-0C78-40AE-1270-52A745797B8E}"/>
          </ac:spMkLst>
        </pc:spChg>
        <pc:picChg chg="add mod">
          <ac:chgData name="Kadelka, Claus [MATH]" userId="3587954921_tp_box_2" providerId="OAuth2" clId="{3A5D34D3-13CC-588F-87D8-4157F9E149E9}" dt="2026-05-15T16:01:03.561" v="5266"/>
          <ac:picMkLst>
            <pc:docMk/>
            <pc:sldMk cId="804569849" sldId="272"/>
            <ac:picMk id="5" creationId="{ADC8FC64-7A86-8421-8D04-C45D1C9CCFB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DBA412-2C90-714D-BAC1-13E9964E3BE1}" type="datetimeFigureOut">
              <a:rPr lang="en-US" smtClean="0"/>
              <a:t>5/14/26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1E1C5-D11A-164E-ACBF-BFC252B29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06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submission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1E1C5-D11A-164E-ACBF-BFC252B2970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76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for revision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1E1C5-D11A-164E-ACBF-BFC252B2970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008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1E1C5-D11A-164E-ACBF-BFC252B2970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3359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1B669-5483-BB59-7710-5F8416928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19F1B1-67DB-7D51-118B-E13D0DB99C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660875-1B64-B17D-1EF8-C275206E2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CEAFA-8701-B36B-8E10-2F0DCDBACC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1E1C5-D11A-164E-ACBF-BFC252B2970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746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6D584-BEA9-16C3-F784-34CCAFEB13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02FD2F-9EA7-AF76-21EF-6D4CB78C92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A3A60-D5E8-60D5-BEE1-D64129F2E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B5E58-55BA-1E41-8676-D73EB213C571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93A43-3A17-F1CF-961F-B12DA96B1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115D0-5E3D-AE92-2DEB-238325FED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BF99E-AA2B-2F40-B300-92BE23C33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15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00F67-8734-C41B-3E9F-201E79C93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F3E0A-06CA-5616-B46B-0496EF367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98AA6-703A-B90A-EB34-800EEFAF3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B5E58-55BA-1E41-8676-D73EB213C571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2193F-220E-A282-E3D1-37064729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711EA-88C6-5FC4-A532-1B4068925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BF99E-AA2B-2F40-B300-92BE23C33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018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7CEE2-9688-69B8-22E5-B0AA75AF3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738D5-378F-BA90-8F25-31A5FF695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28301-0082-10BE-632D-2BED864DC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B5E58-55BA-1E41-8676-D73EB213C571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99BBF-3411-A94B-6D6E-669412927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F4526-870D-A380-66FD-557C12F94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BF99E-AA2B-2F40-B300-92BE23C33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320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01B71-E323-63F5-3E1F-8756C8217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A8CC6-4732-129C-03E7-02EC13A4D4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60453-417D-0558-FAAC-FFEC51C398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F73D2-2D1E-B544-2201-8F75826E6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B5E58-55BA-1E41-8676-D73EB213C571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623AFC-1B99-A6B6-C5D4-CA649EF18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E4A2A3-DB38-EBCF-5A4A-7AF6394CE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BF99E-AA2B-2F40-B300-92BE23C33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285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64860-CAF7-5C09-736F-1351F8C6D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4AAC40-68A8-5524-FD3B-69A728567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D46F56-4AB6-C1D6-3C85-97AC7F987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913C15-692C-5E2F-9744-2E6A07313E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C60CF1-2D89-11D9-DF93-55B292039D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29D6EF-59E5-CC24-2AE0-4CB306044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B5E58-55BA-1E41-8676-D73EB213C571}" type="datetimeFigureOut">
              <a:rPr lang="en-US" smtClean="0"/>
              <a:t>5/14/26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27003B-E20A-3862-A78C-5ABB1413B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5A1227-3341-3B80-89CC-D8873B1C9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BF99E-AA2B-2F40-B300-92BE23C33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944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97B2D-368B-929A-0902-56F698426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0F3B4F-863C-A653-EC7D-C1715B4CC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B5E58-55BA-1E41-8676-D73EB213C571}" type="datetimeFigureOut">
              <a:rPr lang="en-US" smtClean="0"/>
              <a:t>5/14/26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51E1DD-3409-9F75-EE76-8FB80795F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B17541-4B84-1142-73C2-419F02C0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BF99E-AA2B-2F40-B300-92BE23C33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870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8D430F-0FEF-F423-5E5B-81BD72319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B5E58-55BA-1E41-8676-D73EB213C571}" type="datetimeFigureOut">
              <a:rPr lang="en-US" smtClean="0"/>
              <a:t>5/14/26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95CBEC-F22E-68F7-CD20-E9C13BED2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B9D50-F17A-9ECB-5B80-279E84CD5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BF99E-AA2B-2F40-B300-92BE23C33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77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67389-FEE5-C0FF-58C3-E05FE40A2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8B1AD-1558-3276-2872-12C059461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87214A-A243-470F-592A-198C8EA111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1D1839-1B46-6DA2-44D9-E5560D208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B5E58-55BA-1E41-8676-D73EB213C571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EAAFA-3EE4-5FC5-1B3C-E4F89268F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2A0BC8-D91F-22F5-7C40-09929E975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BF99E-AA2B-2F40-B300-92BE23C33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56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061DF-33F5-9CF7-F260-FD9A3AE66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72B620-607A-4B08-5336-281D6A339D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9C7BF1-AC22-5F97-27A5-25B02AEB88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9BD28A-4980-38F0-41EF-24176134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B5E58-55BA-1E41-8676-D73EB213C571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CB78DB-D00D-C842-1781-BD3EAE675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314DC3-ADF8-4844-604D-BE15EE4C3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BF99E-AA2B-2F40-B300-92BE23C33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195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E234A-3C6E-070D-ADAB-E1D35586C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79DC7-163F-F934-DC95-7E6AE0FC6D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83DA6-EEC7-6AC3-195B-E171DC676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B5E58-55BA-1E41-8676-D73EB213C571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DBEE4-5BBE-4161-362D-DDA247D2F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550BA-47F7-1F34-251B-B07F0D490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BF99E-AA2B-2F40-B300-92BE23C33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524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23D36A-903F-D0B9-8EEE-66BF8905B2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08712-CAC7-2CBA-CE36-3E2A29F525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20053-356A-669E-C9C0-28CA88781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B5E58-55BA-1E41-8676-D73EB213C571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1A785-8968-0768-A575-C883E27E6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210E3-3C60-0FE8-41AB-B95CCC872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BF99E-AA2B-2F40-B300-92BE23C33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0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715C52-AB6C-573E-9F07-07A7958DA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78D2C-55B6-14F7-7425-A47D5C145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A5F89-6AD7-927F-E7C7-E4F2E09C51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BB5E58-55BA-1E41-8676-D73EB213C571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1F77D-0A5A-8057-E3CE-FDC0A64130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22CA3-116C-E93B-C9C3-77FA5B246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FBF99E-AA2B-2F40-B300-92BE23C33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127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8.emf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09C94F-48A1-7837-18E1-D48A35665905}"/>
              </a:ext>
            </a:extLst>
          </p:cNvPr>
          <p:cNvSpPr txBox="1"/>
          <p:nvPr/>
        </p:nvSpPr>
        <p:spPr>
          <a:xfrm>
            <a:off x="1297749" y="1425337"/>
            <a:ext cx="2335426" cy="71508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1. Random Boolean Function Generators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520C62-14A1-475F-BF82-4D0B5FE21614}"/>
              </a:ext>
            </a:extLst>
          </p:cNvPr>
          <p:cNvSpPr txBox="1"/>
          <p:nvPr/>
        </p:nvSpPr>
        <p:spPr>
          <a:xfrm>
            <a:off x="3946213" y="1425337"/>
            <a:ext cx="2335426" cy="71508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3. Boolean Function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084991-C304-A49F-A9B3-41ED667161C8}"/>
              </a:ext>
            </a:extLst>
          </p:cNvPr>
          <p:cNvSpPr txBox="1"/>
          <p:nvPr/>
        </p:nvSpPr>
        <p:spPr>
          <a:xfrm>
            <a:off x="3946213" y="2619728"/>
            <a:ext cx="2335426" cy="71508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4. Boolean Network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67EBEC-8C59-D88D-2E7C-D9B29945C997}"/>
              </a:ext>
            </a:extLst>
          </p:cNvPr>
          <p:cNvSpPr txBox="1"/>
          <p:nvPr/>
        </p:nvSpPr>
        <p:spPr>
          <a:xfrm>
            <a:off x="1297749" y="2619728"/>
            <a:ext cx="2335426" cy="71508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2. Random Boolean Network Generators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BE6FE0-DFB2-7E3E-086B-B8C0024FB240}"/>
              </a:ext>
            </a:extLst>
          </p:cNvPr>
          <p:cNvSpPr txBox="1"/>
          <p:nvPr/>
        </p:nvSpPr>
        <p:spPr>
          <a:xfrm>
            <a:off x="2562446" y="3891516"/>
            <a:ext cx="2726341" cy="40862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5. Ensemble experiments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562441C-C762-0112-833A-D4A7C6A1A7F8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633175" y="1782882"/>
            <a:ext cx="3130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6A4DC22-CCC4-A052-60A6-A86D136E0A24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>
            <a:off x="3633175" y="2977273"/>
            <a:ext cx="3130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CE4A8AF-2C83-52B3-2227-09CD4D17961F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2465462" y="3334817"/>
            <a:ext cx="1460155" cy="5566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B7C5B7D-5EA8-8085-A20D-46518127F752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3925617" y="3334817"/>
            <a:ext cx="1188309" cy="5566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1B6B4F9-A26A-5FDD-4E96-805C7E77DEFF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2465462" y="2140426"/>
            <a:ext cx="0" cy="4793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E5CEFDA-EB73-5680-C1D9-C812DD36BB3F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5113926" y="2140426"/>
            <a:ext cx="0" cy="4793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3511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0D541-142B-AA34-1FDA-FA28B9D7D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E6D02E-5BF7-D7D3-3560-CD51B4C068C0}"/>
              </a:ext>
            </a:extLst>
          </p:cNvPr>
          <p:cNvSpPr txBox="1"/>
          <p:nvPr/>
        </p:nvSpPr>
        <p:spPr>
          <a:xfrm>
            <a:off x="1297749" y="1425337"/>
            <a:ext cx="2335426" cy="71508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1. Random Boolean Function Generators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9292AA-8472-FB4E-C2B3-A9BF16F0B552}"/>
              </a:ext>
            </a:extLst>
          </p:cNvPr>
          <p:cNvSpPr txBox="1"/>
          <p:nvPr/>
        </p:nvSpPr>
        <p:spPr>
          <a:xfrm>
            <a:off x="1297749" y="3661037"/>
            <a:ext cx="2335426" cy="71508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3. Boolean Function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693BA7-7596-83E5-CA11-38CF8568E57D}"/>
              </a:ext>
            </a:extLst>
          </p:cNvPr>
          <p:cNvSpPr txBox="1"/>
          <p:nvPr/>
        </p:nvSpPr>
        <p:spPr>
          <a:xfrm>
            <a:off x="4647005" y="3661037"/>
            <a:ext cx="2335426" cy="71508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4. Boolean Network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764FA9-9059-4799-8976-2F47E5E56B5E}"/>
              </a:ext>
            </a:extLst>
          </p:cNvPr>
          <p:cNvSpPr txBox="1"/>
          <p:nvPr/>
        </p:nvSpPr>
        <p:spPr>
          <a:xfrm>
            <a:off x="4647005" y="1425336"/>
            <a:ext cx="2335426" cy="71508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2. Random Boolean Network Generators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59CCCA-A88B-22C2-CD5E-586E4C8213C3}"/>
              </a:ext>
            </a:extLst>
          </p:cNvPr>
          <p:cNvSpPr txBox="1"/>
          <p:nvPr/>
        </p:nvSpPr>
        <p:spPr>
          <a:xfrm>
            <a:off x="7581013" y="2696419"/>
            <a:ext cx="2726341" cy="40862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5. Ensemble experiments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43D35FC-ED56-20E0-3AC5-A12684003BFC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2465462" y="2140426"/>
            <a:ext cx="0" cy="15206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E24888C-DAD6-BDF5-F36A-BC996F82841F}"/>
              </a:ext>
            </a:extLst>
          </p:cNvPr>
          <p:cNvCxnSpPr>
            <a:cxnSpLocks/>
            <a:stCxn id="7" idx="2"/>
            <a:endCxn id="6" idx="0"/>
          </p:cNvCxnSpPr>
          <p:nvPr/>
        </p:nvCxnSpPr>
        <p:spPr>
          <a:xfrm>
            <a:off x="5814718" y="2140425"/>
            <a:ext cx="0" cy="15206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2D0FAE7-8BDE-D752-0774-A884DB15B6D0}"/>
              </a:ext>
            </a:extLst>
          </p:cNvPr>
          <p:cNvCxnSpPr>
            <a:cxnSpLocks/>
            <a:stCxn id="7" idx="3"/>
            <a:endCxn id="8" idx="0"/>
          </p:cNvCxnSpPr>
          <p:nvPr/>
        </p:nvCxnSpPr>
        <p:spPr>
          <a:xfrm>
            <a:off x="6982431" y="1782881"/>
            <a:ext cx="1961753" cy="9135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34706CA-877C-4280-AB2E-1050CD9A1E8D}"/>
              </a:ext>
            </a:extLst>
          </p:cNvPr>
          <p:cNvCxnSpPr>
            <a:cxnSpLocks/>
            <a:stCxn id="6" idx="3"/>
            <a:endCxn id="8" idx="2"/>
          </p:cNvCxnSpPr>
          <p:nvPr/>
        </p:nvCxnSpPr>
        <p:spPr>
          <a:xfrm flipV="1">
            <a:off x="6982431" y="3105042"/>
            <a:ext cx="1961753" cy="9135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63B09FB-3AE3-7534-E274-853EF2840CC2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 flipV="1">
            <a:off x="3633175" y="1782881"/>
            <a:ext cx="101383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E458771-1FB9-A8AE-87EF-3B3237105DEC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3633175" y="4018582"/>
            <a:ext cx="10138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306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7264B-90DF-5331-402A-003549D1A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A1A23E-BF7F-E812-FA28-AC0BB7F64A93}"/>
              </a:ext>
            </a:extLst>
          </p:cNvPr>
          <p:cNvSpPr txBox="1"/>
          <p:nvPr/>
        </p:nvSpPr>
        <p:spPr>
          <a:xfrm>
            <a:off x="1020733" y="1425337"/>
            <a:ext cx="2335426" cy="10556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1. Random Boolean Function Generators</a:t>
            </a:r>
          </a:p>
          <a:p>
            <a:r>
              <a:rPr lang="en-US" sz="800" dirty="0" err="1"/>
              <a:t>random_non_degenerated_function</a:t>
            </a:r>
            <a:r>
              <a:rPr lang="en-US" sz="800" dirty="0"/>
              <a:t>(n)</a:t>
            </a:r>
          </a:p>
          <a:p>
            <a:r>
              <a:rPr lang="en-US" sz="800" dirty="0" err="1"/>
              <a:t>random_k_canalizing_function</a:t>
            </a:r>
            <a:r>
              <a:rPr lang="en-US" sz="800" dirty="0"/>
              <a:t>(n, k)</a:t>
            </a:r>
          </a:p>
          <a:p>
            <a:r>
              <a:rPr lang="en-US" sz="800" dirty="0" err="1"/>
              <a:t>random_NCF</a:t>
            </a:r>
            <a:r>
              <a:rPr lang="en-US" sz="800" dirty="0"/>
              <a:t>(n, </a:t>
            </a:r>
            <a:r>
              <a:rPr lang="en-US" sz="800" dirty="0" err="1"/>
              <a:t>layer_structure</a:t>
            </a:r>
            <a:r>
              <a:rPr lang="en-US" sz="800" dirty="0"/>
              <a:t>)</a:t>
            </a:r>
          </a:p>
          <a:p>
            <a:r>
              <a:rPr lang="en-US" sz="800" dirty="0"/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3390C4-202C-D85E-085D-CCB9A4639B91}"/>
              </a:ext>
            </a:extLst>
          </p:cNvPr>
          <p:cNvSpPr txBox="1"/>
          <p:nvPr/>
        </p:nvSpPr>
        <p:spPr>
          <a:xfrm>
            <a:off x="1020732" y="2974417"/>
            <a:ext cx="2335426" cy="98750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3. Boolean Function Analysis</a:t>
            </a:r>
          </a:p>
          <a:p>
            <a:r>
              <a:rPr lang="en-US" sz="800" dirty="0" err="1"/>
              <a:t>is_monotonic</a:t>
            </a:r>
            <a:r>
              <a:rPr lang="en-US" sz="800" dirty="0"/>
              <a:t>()	</a:t>
            </a:r>
            <a:r>
              <a:rPr lang="en-US" sz="800" dirty="0" err="1"/>
              <a:t>get_symmetry_groups</a:t>
            </a:r>
            <a:r>
              <a:rPr lang="en-US" sz="800" dirty="0"/>
              <a:t>()</a:t>
            </a:r>
          </a:p>
          <a:p>
            <a:r>
              <a:rPr lang="en-US" sz="800" dirty="0" err="1"/>
              <a:t>is_degenerated</a:t>
            </a:r>
            <a:r>
              <a:rPr lang="en-US" sz="800" dirty="0"/>
              <a:t>()	</a:t>
            </a:r>
            <a:r>
              <a:rPr lang="en-US" sz="800" dirty="0" err="1"/>
              <a:t>get_sensitivity</a:t>
            </a:r>
            <a:r>
              <a:rPr lang="en-US" sz="800" dirty="0"/>
              <a:t>()</a:t>
            </a:r>
          </a:p>
          <a:p>
            <a:r>
              <a:rPr lang="en-US" sz="800" dirty="0" err="1"/>
              <a:t>Is_k_canalizing</a:t>
            </a:r>
            <a:r>
              <a:rPr lang="en-US" sz="800" dirty="0"/>
              <a:t>()	</a:t>
            </a:r>
            <a:r>
              <a:rPr lang="en-US" sz="800" dirty="0" err="1"/>
              <a:t>get_layer_structure</a:t>
            </a:r>
            <a:r>
              <a:rPr lang="en-US" sz="800" dirty="0"/>
              <a:t>()</a:t>
            </a:r>
          </a:p>
          <a:p>
            <a:r>
              <a:rPr lang="en-US" sz="800" dirty="0" err="1"/>
              <a:t>Is_kset_canalizing</a:t>
            </a:r>
            <a:r>
              <a:rPr lang="en-US" sz="800" dirty="0"/>
              <a:t>()	</a:t>
            </a:r>
            <a:r>
              <a:rPr lang="en-US" sz="800" dirty="0" err="1"/>
              <a:t>get_canalizing_strength</a:t>
            </a:r>
            <a:r>
              <a:rPr lang="en-US" sz="800" dirty="0"/>
              <a:t>()</a:t>
            </a:r>
          </a:p>
          <a:p>
            <a:r>
              <a:rPr lang="en-US" sz="800" dirty="0"/>
              <a:t>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196A90-AE14-D59A-6D04-D6AC520F9F50}"/>
              </a:ext>
            </a:extLst>
          </p:cNvPr>
          <p:cNvSpPr txBox="1"/>
          <p:nvPr/>
        </p:nvSpPr>
        <p:spPr>
          <a:xfrm>
            <a:off x="3913359" y="2974417"/>
            <a:ext cx="2335426" cy="98750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4. Boolean Network Analysis</a:t>
            </a:r>
          </a:p>
          <a:p>
            <a:r>
              <a:rPr lang="en-US" sz="800" dirty="0" err="1"/>
              <a:t>get_attractors_synchronous</a:t>
            </a:r>
            <a:r>
              <a:rPr lang="en-US" sz="800" dirty="0"/>
              <a:t>()</a:t>
            </a:r>
          </a:p>
          <a:p>
            <a:r>
              <a:rPr lang="en-US" sz="800" dirty="0" err="1"/>
              <a:t>get_steady_states_asynchronous</a:t>
            </a:r>
            <a:r>
              <a:rPr lang="en-US" sz="800" dirty="0"/>
              <a:t>()</a:t>
            </a:r>
          </a:p>
          <a:p>
            <a:r>
              <a:rPr lang="en-US" sz="800" dirty="0" err="1"/>
              <a:t>get_attractors_and_robustness_measures</a:t>
            </a:r>
            <a:r>
              <a:rPr lang="en-US" sz="800" dirty="0"/>
              <a:t>_</a:t>
            </a:r>
          </a:p>
          <a:p>
            <a:r>
              <a:rPr lang="en-US" sz="800" dirty="0"/>
              <a:t>synchronous()</a:t>
            </a:r>
          </a:p>
          <a:p>
            <a:r>
              <a:rPr lang="en-US" sz="800" dirty="0"/>
              <a:t>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9B4003-853E-D655-B512-17302323FD4D}"/>
              </a:ext>
            </a:extLst>
          </p:cNvPr>
          <p:cNvSpPr txBox="1"/>
          <p:nvPr/>
        </p:nvSpPr>
        <p:spPr>
          <a:xfrm>
            <a:off x="3913359" y="1425337"/>
            <a:ext cx="2335426" cy="10556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2. Random Boolean Network Generators</a:t>
            </a:r>
          </a:p>
          <a:p>
            <a:r>
              <a:rPr lang="en-US" sz="800" dirty="0"/>
              <a:t>Generates a random Boolean network of defined size, degree distribution, canalizing depth or layer structure, bias, …</a:t>
            </a:r>
          </a:p>
          <a:p>
            <a:endParaRPr lang="en-US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1A2827-B06C-269A-5A83-32BE7FE042E2}"/>
              </a:ext>
            </a:extLst>
          </p:cNvPr>
          <p:cNvSpPr txBox="1"/>
          <p:nvPr/>
        </p:nvSpPr>
        <p:spPr>
          <a:xfrm>
            <a:off x="7581013" y="2696419"/>
            <a:ext cx="2726341" cy="40862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5. Ensemble experiments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626057F-A143-FE2E-657D-B5F4032DB7F2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2188445" y="2480945"/>
            <a:ext cx="1" cy="4934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D068F75-8298-702F-B29E-56557375B184}"/>
              </a:ext>
            </a:extLst>
          </p:cNvPr>
          <p:cNvCxnSpPr>
            <a:cxnSpLocks/>
            <a:stCxn id="7" idx="2"/>
            <a:endCxn id="6" idx="0"/>
          </p:cNvCxnSpPr>
          <p:nvPr/>
        </p:nvCxnSpPr>
        <p:spPr>
          <a:xfrm>
            <a:off x="5081072" y="2480945"/>
            <a:ext cx="0" cy="4934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227993-E2C9-F174-6114-5CED8656F6A5}"/>
              </a:ext>
            </a:extLst>
          </p:cNvPr>
          <p:cNvCxnSpPr>
            <a:cxnSpLocks/>
            <a:stCxn id="7" idx="3"/>
            <a:endCxn id="8" idx="0"/>
          </p:cNvCxnSpPr>
          <p:nvPr/>
        </p:nvCxnSpPr>
        <p:spPr>
          <a:xfrm>
            <a:off x="6248785" y="1953141"/>
            <a:ext cx="2695399" cy="7432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D98FA36-0950-E24D-EC72-3BF1B77506E7}"/>
              </a:ext>
            </a:extLst>
          </p:cNvPr>
          <p:cNvCxnSpPr>
            <a:cxnSpLocks/>
            <a:stCxn id="6" idx="3"/>
            <a:endCxn id="8" idx="2"/>
          </p:cNvCxnSpPr>
          <p:nvPr/>
        </p:nvCxnSpPr>
        <p:spPr>
          <a:xfrm flipV="1">
            <a:off x="6248785" y="3105042"/>
            <a:ext cx="2695399" cy="3631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47E882D-395C-037A-41E7-9745B3950B09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3356159" y="1953141"/>
            <a:ext cx="557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4B01527-AF36-AC39-2D67-A3F00BD4BF83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3356158" y="3468169"/>
            <a:ext cx="5572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3140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637A3-34E2-43B1-9D68-D771416A4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00FF43-72FE-28C1-358F-28114D19422D}"/>
              </a:ext>
            </a:extLst>
          </p:cNvPr>
          <p:cNvSpPr txBox="1"/>
          <p:nvPr/>
        </p:nvSpPr>
        <p:spPr>
          <a:xfrm>
            <a:off x="715477" y="1425337"/>
            <a:ext cx="2335426" cy="10556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1. Random Boolean Function Generators</a:t>
            </a:r>
          </a:p>
          <a:p>
            <a:r>
              <a:rPr lang="en-US" sz="800" dirty="0" err="1"/>
              <a:t>random_non_degenerated_function</a:t>
            </a:r>
            <a:r>
              <a:rPr lang="en-US" sz="800" dirty="0"/>
              <a:t>(n)</a:t>
            </a:r>
          </a:p>
          <a:p>
            <a:r>
              <a:rPr lang="en-US" sz="800" dirty="0" err="1"/>
              <a:t>random_k_canalizing_function</a:t>
            </a:r>
            <a:r>
              <a:rPr lang="en-US" sz="800" dirty="0"/>
              <a:t>(n, k)</a:t>
            </a:r>
          </a:p>
          <a:p>
            <a:r>
              <a:rPr lang="en-US" sz="800" dirty="0" err="1"/>
              <a:t>random_NCF</a:t>
            </a:r>
            <a:r>
              <a:rPr lang="en-US" sz="800" dirty="0"/>
              <a:t>(n, </a:t>
            </a:r>
            <a:r>
              <a:rPr lang="en-US" sz="800" dirty="0" err="1"/>
              <a:t>layer_structure</a:t>
            </a:r>
            <a:r>
              <a:rPr lang="en-US" sz="800" dirty="0"/>
              <a:t>)</a:t>
            </a:r>
          </a:p>
          <a:p>
            <a:r>
              <a:rPr lang="en-US" sz="800" dirty="0"/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E5F3F5-C06E-ED90-17CA-872855B3CEC7}"/>
              </a:ext>
            </a:extLst>
          </p:cNvPr>
          <p:cNvSpPr txBox="1"/>
          <p:nvPr/>
        </p:nvSpPr>
        <p:spPr>
          <a:xfrm>
            <a:off x="715477" y="3633311"/>
            <a:ext cx="2335426" cy="98750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3. Boolean Function Analysis</a:t>
            </a:r>
          </a:p>
          <a:p>
            <a:r>
              <a:rPr lang="en-US" sz="800" dirty="0" err="1"/>
              <a:t>is_monotonic</a:t>
            </a:r>
            <a:r>
              <a:rPr lang="en-US" sz="800" dirty="0"/>
              <a:t>()	</a:t>
            </a:r>
            <a:r>
              <a:rPr lang="en-US" sz="800" dirty="0" err="1"/>
              <a:t>get_symmetry_groups</a:t>
            </a:r>
            <a:r>
              <a:rPr lang="en-US" sz="800" dirty="0"/>
              <a:t>()</a:t>
            </a:r>
          </a:p>
          <a:p>
            <a:r>
              <a:rPr lang="en-US" sz="800" dirty="0" err="1"/>
              <a:t>is_degenerated</a:t>
            </a:r>
            <a:r>
              <a:rPr lang="en-US" sz="800" dirty="0"/>
              <a:t>()	</a:t>
            </a:r>
            <a:r>
              <a:rPr lang="en-US" sz="800" dirty="0" err="1"/>
              <a:t>get_sensitivity</a:t>
            </a:r>
            <a:r>
              <a:rPr lang="en-US" sz="800" dirty="0"/>
              <a:t>()</a:t>
            </a:r>
          </a:p>
          <a:p>
            <a:r>
              <a:rPr lang="en-US" sz="800" dirty="0" err="1"/>
              <a:t>Is_k_canalizing</a:t>
            </a:r>
            <a:r>
              <a:rPr lang="en-US" sz="800" dirty="0"/>
              <a:t>()	</a:t>
            </a:r>
            <a:r>
              <a:rPr lang="en-US" sz="800" dirty="0" err="1"/>
              <a:t>get_layer_structure</a:t>
            </a:r>
            <a:r>
              <a:rPr lang="en-US" sz="800" dirty="0"/>
              <a:t>()</a:t>
            </a:r>
          </a:p>
          <a:p>
            <a:r>
              <a:rPr lang="en-US" sz="800" dirty="0" err="1"/>
              <a:t>Is_kset_canalizing</a:t>
            </a:r>
            <a:r>
              <a:rPr lang="en-US" sz="800" dirty="0"/>
              <a:t>()	</a:t>
            </a:r>
            <a:r>
              <a:rPr lang="en-US" sz="800" dirty="0" err="1"/>
              <a:t>get_canalizing_strength</a:t>
            </a:r>
            <a:r>
              <a:rPr lang="en-US" sz="800" dirty="0"/>
              <a:t>()</a:t>
            </a:r>
          </a:p>
          <a:p>
            <a:r>
              <a:rPr lang="en-US" sz="800" dirty="0"/>
              <a:t>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86872E-3AF2-4CAC-DC44-0891850B84CD}"/>
              </a:ext>
            </a:extLst>
          </p:cNvPr>
          <p:cNvSpPr txBox="1"/>
          <p:nvPr/>
        </p:nvSpPr>
        <p:spPr>
          <a:xfrm>
            <a:off x="3913359" y="3633311"/>
            <a:ext cx="2335426" cy="98750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4. Boolean Network Analysis</a:t>
            </a:r>
          </a:p>
          <a:p>
            <a:r>
              <a:rPr lang="en-US" sz="800" dirty="0" err="1"/>
              <a:t>get_steady_states_asynchronous</a:t>
            </a:r>
            <a:r>
              <a:rPr lang="en-US" sz="800" dirty="0"/>
              <a:t>()</a:t>
            </a:r>
          </a:p>
          <a:p>
            <a:r>
              <a:rPr lang="en-US" sz="800" dirty="0" err="1"/>
              <a:t>get_Derrida_values</a:t>
            </a:r>
            <a:r>
              <a:rPr lang="en-US" sz="800" dirty="0"/>
              <a:t>()</a:t>
            </a:r>
          </a:p>
          <a:p>
            <a:r>
              <a:rPr lang="en-US" sz="800" dirty="0" err="1"/>
              <a:t>get_attractors_and_robustness_measures</a:t>
            </a:r>
            <a:r>
              <a:rPr lang="en-US" sz="800" dirty="0"/>
              <a:t>_</a:t>
            </a:r>
          </a:p>
          <a:p>
            <a:r>
              <a:rPr lang="en-US" sz="800" dirty="0"/>
              <a:t>synchronous()</a:t>
            </a:r>
          </a:p>
          <a:p>
            <a:r>
              <a:rPr lang="en-US" sz="800" dirty="0"/>
              <a:t>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774C9D-442F-A561-BCA2-D603A4036B17}"/>
              </a:ext>
            </a:extLst>
          </p:cNvPr>
          <p:cNvSpPr txBox="1"/>
          <p:nvPr/>
        </p:nvSpPr>
        <p:spPr>
          <a:xfrm>
            <a:off x="3913359" y="1425337"/>
            <a:ext cx="2335426" cy="10556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2. Random Boolean Network Generators</a:t>
            </a:r>
          </a:p>
          <a:p>
            <a:r>
              <a:rPr lang="en-US" sz="800" dirty="0"/>
              <a:t>Generate random Boolean networks of defined size, degree distribution, canalizing depth or layer structure, bias, …</a:t>
            </a:r>
          </a:p>
          <a:p>
            <a:endParaRPr lang="en-US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F17099-C86C-BC57-9FA6-D7ABE3B28120}"/>
              </a:ext>
            </a:extLst>
          </p:cNvPr>
          <p:cNvSpPr txBox="1"/>
          <p:nvPr/>
        </p:nvSpPr>
        <p:spPr>
          <a:xfrm>
            <a:off x="2212899" y="2699583"/>
            <a:ext cx="2538465" cy="71508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5. Ensemble experiments</a:t>
            </a:r>
          </a:p>
          <a:p>
            <a:r>
              <a:rPr lang="en-US" sz="800" dirty="0"/>
              <a:t>Build reproducible pipelines for systematic studies</a:t>
            </a:r>
          </a:p>
          <a:p>
            <a:r>
              <a:rPr lang="en-US" sz="800" dirty="0"/>
              <a:t>Systematically vary parameters and study network properties across ensembles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DBDCD35-6B7E-127C-055B-7D5992528DDD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1883190" y="2480945"/>
            <a:ext cx="0" cy="115236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99D6680-0CF5-B87D-6F9E-95C2C3019A52}"/>
              </a:ext>
            </a:extLst>
          </p:cNvPr>
          <p:cNvCxnSpPr>
            <a:cxnSpLocks/>
            <a:stCxn id="7" idx="2"/>
            <a:endCxn id="6" idx="0"/>
          </p:cNvCxnSpPr>
          <p:nvPr/>
        </p:nvCxnSpPr>
        <p:spPr>
          <a:xfrm>
            <a:off x="5081072" y="2480945"/>
            <a:ext cx="0" cy="115236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DAAFB58-CBF5-F4EC-6E1D-40FD5D6AB196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3050903" y="1953141"/>
            <a:ext cx="862456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F55827E-B68F-BB95-10B5-46819856295D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3050903" y="4127063"/>
            <a:ext cx="862456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8CD18FD-B643-9A76-951A-F9ED6B7CF340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883190" y="2480945"/>
            <a:ext cx="355028" cy="26213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63F5C5D-7F44-FD93-8CDF-1127C07507D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1883190" y="3380204"/>
            <a:ext cx="355028" cy="253107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6941659-3284-CFEA-035A-A76C7FA4D85F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4751364" y="3380204"/>
            <a:ext cx="329708" cy="253107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74CBBBA-2AA1-F473-5560-BC1DCE72EF33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4751363" y="2480945"/>
            <a:ext cx="329709" cy="253107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1668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48351-0DF7-98DA-19AF-16F1D64C1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E950E5-4062-BF9A-1E00-CF0AFEC38A9B}"/>
              </a:ext>
            </a:extLst>
          </p:cNvPr>
          <p:cNvSpPr txBox="1"/>
          <p:nvPr/>
        </p:nvSpPr>
        <p:spPr>
          <a:xfrm>
            <a:off x="715477" y="1425337"/>
            <a:ext cx="2335426" cy="10556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1. Random Boolean Function Generators</a:t>
            </a:r>
          </a:p>
          <a:p>
            <a:r>
              <a:rPr lang="en-US" sz="800" dirty="0" err="1"/>
              <a:t>random_non_degenerated_function</a:t>
            </a:r>
            <a:r>
              <a:rPr lang="en-US" sz="800" dirty="0"/>
              <a:t>(n)</a:t>
            </a:r>
          </a:p>
          <a:p>
            <a:r>
              <a:rPr lang="en-US" sz="800" dirty="0" err="1"/>
              <a:t>random_k_canalizing_function</a:t>
            </a:r>
            <a:r>
              <a:rPr lang="en-US" sz="800" dirty="0"/>
              <a:t>(n, k)</a:t>
            </a:r>
          </a:p>
          <a:p>
            <a:r>
              <a:rPr lang="en-US" sz="800" dirty="0" err="1"/>
              <a:t>random_NCF</a:t>
            </a:r>
            <a:r>
              <a:rPr lang="en-US" sz="800" dirty="0"/>
              <a:t>(n, </a:t>
            </a:r>
            <a:r>
              <a:rPr lang="en-US" sz="800" dirty="0" err="1"/>
              <a:t>layer_structure</a:t>
            </a:r>
            <a:r>
              <a:rPr lang="en-US" sz="800" dirty="0"/>
              <a:t>)</a:t>
            </a:r>
          </a:p>
          <a:p>
            <a:r>
              <a:rPr lang="en-US" sz="800" dirty="0"/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AD405A-703B-81BD-DA2A-4A84AED98E9B}"/>
              </a:ext>
            </a:extLst>
          </p:cNvPr>
          <p:cNvSpPr txBox="1"/>
          <p:nvPr/>
        </p:nvSpPr>
        <p:spPr>
          <a:xfrm>
            <a:off x="715477" y="3633311"/>
            <a:ext cx="2335426" cy="98750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3. Boolean Function Analysis</a:t>
            </a:r>
          </a:p>
          <a:p>
            <a:r>
              <a:rPr lang="en-US" sz="800" dirty="0" err="1"/>
              <a:t>is_monotonic</a:t>
            </a:r>
            <a:r>
              <a:rPr lang="en-US" sz="800" dirty="0"/>
              <a:t>()	</a:t>
            </a:r>
            <a:r>
              <a:rPr lang="en-US" sz="800" dirty="0" err="1"/>
              <a:t>get_symmetry_groups</a:t>
            </a:r>
            <a:r>
              <a:rPr lang="en-US" sz="800" dirty="0"/>
              <a:t>()</a:t>
            </a:r>
          </a:p>
          <a:p>
            <a:r>
              <a:rPr lang="en-US" sz="800" dirty="0" err="1"/>
              <a:t>is_degenerated</a:t>
            </a:r>
            <a:r>
              <a:rPr lang="en-US" sz="800" dirty="0"/>
              <a:t>()	</a:t>
            </a:r>
            <a:r>
              <a:rPr lang="en-US" sz="800" dirty="0" err="1"/>
              <a:t>get_sensitivity</a:t>
            </a:r>
            <a:r>
              <a:rPr lang="en-US" sz="800" dirty="0"/>
              <a:t>()</a:t>
            </a:r>
          </a:p>
          <a:p>
            <a:r>
              <a:rPr lang="en-US" sz="800" dirty="0" err="1"/>
              <a:t>Is_k_canalizing</a:t>
            </a:r>
            <a:r>
              <a:rPr lang="en-US" sz="800" dirty="0"/>
              <a:t>()	</a:t>
            </a:r>
            <a:r>
              <a:rPr lang="en-US" sz="800" dirty="0" err="1"/>
              <a:t>get_layer_structure</a:t>
            </a:r>
            <a:r>
              <a:rPr lang="en-US" sz="800" dirty="0"/>
              <a:t>()</a:t>
            </a:r>
          </a:p>
          <a:p>
            <a:r>
              <a:rPr lang="en-US" sz="800" dirty="0" err="1"/>
              <a:t>Is_kset_canalizing</a:t>
            </a:r>
            <a:r>
              <a:rPr lang="en-US" sz="800" dirty="0"/>
              <a:t>()	</a:t>
            </a:r>
            <a:r>
              <a:rPr lang="en-US" sz="800" dirty="0" err="1"/>
              <a:t>get_canalizing_strength</a:t>
            </a:r>
            <a:r>
              <a:rPr lang="en-US" sz="800" dirty="0"/>
              <a:t>()</a:t>
            </a:r>
          </a:p>
          <a:p>
            <a:r>
              <a:rPr lang="en-US" sz="800" dirty="0"/>
              <a:t>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3972F6-8C12-E375-58CF-524228A5B119}"/>
              </a:ext>
            </a:extLst>
          </p:cNvPr>
          <p:cNvSpPr txBox="1"/>
          <p:nvPr/>
        </p:nvSpPr>
        <p:spPr>
          <a:xfrm>
            <a:off x="3913359" y="3633311"/>
            <a:ext cx="2335426" cy="98750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4. Boolean Network Analysis</a:t>
            </a:r>
          </a:p>
          <a:p>
            <a:r>
              <a:rPr lang="en-US" sz="800" dirty="0" err="1"/>
              <a:t>get_steady_states_asynchronous</a:t>
            </a:r>
            <a:r>
              <a:rPr lang="en-US" sz="800" dirty="0"/>
              <a:t>()</a:t>
            </a:r>
          </a:p>
          <a:p>
            <a:r>
              <a:rPr lang="en-US" sz="800" dirty="0" err="1"/>
              <a:t>get_Derrida_values</a:t>
            </a:r>
            <a:r>
              <a:rPr lang="en-US" sz="800" dirty="0"/>
              <a:t>()</a:t>
            </a:r>
          </a:p>
          <a:p>
            <a:r>
              <a:rPr lang="en-US" sz="800" dirty="0" err="1"/>
              <a:t>get_attractors_and_robustness_measures</a:t>
            </a:r>
            <a:r>
              <a:rPr lang="en-US" sz="800" dirty="0"/>
              <a:t>_</a:t>
            </a:r>
          </a:p>
          <a:p>
            <a:r>
              <a:rPr lang="en-US" sz="800" dirty="0"/>
              <a:t>synchronous()</a:t>
            </a:r>
          </a:p>
          <a:p>
            <a:r>
              <a:rPr lang="en-US" sz="800" dirty="0"/>
              <a:t>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C6BAB6-5CB9-4604-8CD8-E496DEC7206E}"/>
              </a:ext>
            </a:extLst>
          </p:cNvPr>
          <p:cNvSpPr txBox="1"/>
          <p:nvPr/>
        </p:nvSpPr>
        <p:spPr>
          <a:xfrm>
            <a:off x="3913359" y="1425337"/>
            <a:ext cx="2335426" cy="10556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2. Random Boolean Network Generators</a:t>
            </a:r>
          </a:p>
          <a:p>
            <a:r>
              <a:rPr lang="en-US" sz="800" dirty="0"/>
              <a:t>Generate random Boolean networks of defined size, degree distribution, canalizing depth or layer structure, bias, …</a:t>
            </a:r>
          </a:p>
          <a:p>
            <a:endParaRPr lang="en-US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9E3303-F139-DA18-E558-754BD02C67F6}"/>
              </a:ext>
            </a:extLst>
          </p:cNvPr>
          <p:cNvSpPr txBox="1"/>
          <p:nvPr/>
        </p:nvSpPr>
        <p:spPr>
          <a:xfrm>
            <a:off x="2212899" y="2699583"/>
            <a:ext cx="2538465" cy="71508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5. Ensemble experiments</a:t>
            </a:r>
          </a:p>
          <a:p>
            <a:r>
              <a:rPr lang="en-US" sz="800" dirty="0"/>
              <a:t>Build reproducible pipelines for systematic studies:</a:t>
            </a:r>
          </a:p>
          <a:p>
            <a:r>
              <a:rPr lang="en-US" sz="800" dirty="0"/>
              <a:t>vary parameters and study network properties across ensembles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E321F01-1A0F-F0EB-0A7F-73C66D74219E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1883190" y="2480945"/>
            <a:ext cx="0" cy="115236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6F1CC3F-B47E-AD2F-E70A-8E70AFA55EE7}"/>
              </a:ext>
            </a:extLst>
          </p:cNvPr>
          <p:cNvCxnSpPr>
            <a:cxnSpLocks/>
            <a:stCxn id="7" idx="2"/>
            <a:endCxn id="6" idx="0"/>
          </p:cNvCxnSpPr>
          <p:nvPr/>
        </p:nvCxnSpPr>
        <p:spPr>
          <a:xfrm>
            <a:off x="5081072" y="2480945"/>
            <a:ext cx="0" cy="115236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D92C94E-597B-A22B-F357-D1D2054FF6A9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3050903" y="1953141"/>
            <a:ext cx="862456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E3CCA0C-FF24-CB22-58D2-FEC9E9674EAC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3050903" y="4127063"/>
            <a:ext cx="862456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8C87C70-90B7-665C-0D00-B6C018883FD5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883190" y="2480945"/>
            <a:ext cx="355028" cy="26213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C2172A1-DFBE-5820-D4CA-A9465C1D6799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1883190" y="3380204"/>
            <a:ext cx="355028" cy="253107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DA9EFFE-49F3-CA2A-0059-BE3772483990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4751364" y="3380204"/>
            <a:ext cx="329708" cy="253107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17A4252-8BAC-ADC8-E265-B1AFB881A510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4751363" y="2480945"/>
            <a:ext cx="329709" cy="253107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D8FFC44-D612-A1FB-DD19-19CCD2EDA170}"/>
              </a:ext>
            </a:extLst>
          </p:cNvPr>
          <p:cNvSpPr txBox="1"/>
          <p:nvPr/>
        </p:nvSpPr>
        <p:spPr>
          <a:xfrm>
            <a:off x="5410780" y="2507803"/>
            <a:ext cx="1612396" cy="1031915"/>
          </a:xfrm>
          <a:prstGeom prst="hexagon">
            <a:avLst>
              <a:gd name="adj" fmla="val 6992"/>
              <a:gd name="vf" fmla="val 11547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class </a:t>
            </a:r>
            <a:r>
              <a:rPr lang="en-US" sz="1200" dirty="0" err="1"/>
              <a:t>BooleanNetwork</a:t>
            </a:r>
            <a:endParaRPr lang="en-US" sz="1200" dirty="0"/>
          </a:p>
          <a:p>
            <a:r>
              <a:rPr lang="en-US" sz="800" dirty="0"/>
              <a:t>Interoperable with </a:t>
            </a:r>
            <a:r>
              <a:rPr lang="en-US" sz="800" dirty="0" err="1"/>
              <a:t>PyBoolNet</a:t>
            </a:r>
            <a:r>
              <a:rPr lang="en-US" sz="800" dirty="0"/>
              <a:t>, CANA</a:t>
            </a:r>
          </a:p>
          <a:p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96074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20BAD-0DE0-C471-51F0-F6B73098D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0E8E869-8CD1-325D-B8AD-CE1DFCDFE559}"/>
              </a:ext>
            </a:extLst>
          </p:cNvPr>
          <p:cNvSpPr/>
          <p:nvPr/>
        </p:nvSpPr>
        <p:spPr>
          <a:xfrm>
            <a:off x="3703101" y="944880"/>
            <a:ext cx="2982179" cy="3992880"/>
          </a:xfrm>
          <a:prstGeom prst="roundRect">
            <a:avLst>
              <a:gd name="adj" fmla="val 20354"/>
            </a:avLst>
          </a:prstGeom>
          <a:solidFill>
            <a:schemeClr val="accent2">
              <a:lumMod val="20000"/>
              <a:lumOff val="80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7C609A5-672E-3A7E-2435-4831FA0C9A53}"/>
              </a:ext>
            </a:extLst>
          </p:cNvPr>
          <p:cNvSpPr/>
          <p:nvPr/>
        </p:nvSpPr>
        <p:spPr>
          <a:xfrm>
            <a:off x="525739" y="944880"/>
            <a:ext cx="2755941" cy="3992880"/>
          </a:xfrm>
          <a:prstGeom prst="roundRect">
            <a:avLst>
              <a:gd name="adj" fmla="val 20354"/>
            </a:avLst>
          </a:prstGeom>
          <a:solidFill>
            <a:schemeClr val="accent2">
              <a:lumMod val="20000"/>
              <a:lumOff val="80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30C0AD-E2BB-DCBD-8C86-A5C6F2BCA3EF}"/>
              </a:ext>
            </a:extLst>
          </p:cNvPr>
          <p:cNvSpPr txBox="1"/>
          <p:nvPr/>
        </p:nvSpPr>
        <p:spPr>
          <a:xfrm>
            <a:off x="715477" y="1425337"/>
            <a:ext cx="2335426" cy="10556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1. Random Boolean Function Generators</a:t>
            </a:r>
          </a:p>
          <a:p>
            <a:r>
              <a:rPr lang="en-US" sz="800" dirty="0" err="1"/>
              <a:t>random_non_degenerated_function</a:t>
            </a:r>
            <a:r>
              <a:rPr lang="en-US" sz="800" dirty="0"/>
              <a:t>(n, bias)</a:t>
            </a:r>
          </a:p>
          <a:p>
            <a:r>
              <a:rPr lang="en-US" sz="800" dirty="0" err="1"/>
              <a:t>random_k_canalizing_function</a:t>
            </a:r>
            <a:r>
              <a:rPr lang="en-US" sz="800" dirty="0"/>
              <a:t>(n, k)</a:t>
            </a:r>
          </a:p>
          <a:p>
            <a:r>
              <a:rPr lang="en-US" sz="800" dirty="0" err="1"/>
              <a:t>random_NCF</a:t>
            </a:r>
            <a:r>
              <a:rPr lang="en-US" sz="800" dirty="0"/>
              <a:t>(n, </a:t>
            </a:r>
            <a:r>
              <a:rPr lang="en-US" sz="800" dirty="0" err="1"/>
              <a:t>layer_structure</a:t>
            </a:r>
            <a:r>
              <a:rPr lang="en-US" sz="800" dirty="0"/>
              <a:t>)</a:t>
            </a:r>
          </a:p>
          <a:p>
            <a:r>
              <a:rPr lang="en-US" sz="800" dirty="0"/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65A8E1-BCC5-C492-2CD7-8C1540562120}"/>
              </a:ext>
            </a:extLst>
          </p:cNvPr>
          <p:cNvSpPr txBox="1"/>
          <p:nvPr/>
        </p:nvSpPr>
        <p:spPr>
          <a:xfrm>
            <a:off x="715477" y="3633311"/>
            <a:ext cx="2335426" cy="98750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3. Boolean Function Analysis</a:t>
            </a:r>
          </a:p>
          <a:p>
            <a:r>
              <a:rPr lang="en-US" sz="800" dirty="0" err="1"/>
              <a:t>is_monotonic</a:t>
            </a:r>
            <a:r>
              <a:rPr lang="en-US" sz="800" dirty="0"/>
              <a:t>()	</a:t>
            </a:r>
            <a:r>
              <a:rPr lang="en-US" sz="800" dirty="0" err="1"/>
              <a:t>get_symmetry_groups</a:t>
            </a:r>
            <a:r>
              <a:rPr lang="en-US" sz="800" dirty="0"/>
              <a:t>()</a:t>
            </a:r>
          </a:p>
          <a:p>
            <a:r>
              <a:rPr lang="en-US" sz="800" dirty="0" err="1"/>
              <a:t>is_degenerated</a:t>
            </a:r>
            <a:r>
              <a:rPr lang="en-US" sz="800" dirty="0"/>
              <a:t>()	</a:t>
            </a:r>
            <a:r>
              <a:rPr lang="en-US" sz="800" dirty="0" err="1"/>
              <a:t>get_sensitivity</a:t>
            </a:r>
            <a:r>
              <a:rPr lang="en-US" sz="800" dirty="0"/>
              <a:t>()</a:t>
            </a:r>
          </a:p>
          <a:p>
            <a:r>
              <a:rPr lang="en-US" sz="800" dirty="0" err="1"/>
              <a:t>Is_k_canalizing</a:t>
            </a:r>
            <a:r>
              <a:rPr lang="en-US" sz="800" dirty="0"/>
              <a:t>()	</a:t>
            </a:r>
            <a:r>
              <a:rPr lang="en-US" sz="800" dirty="0" err="1"/>
              <a:t>get_layer_structure</a:t>
            </a:r>
            <a:r>
              <a:rPr lang="en-US" sz="800" dirty="0"/>
              <a:t>()</a:t>
            </a:r>
          </a:p>
          <a:p>
            <a:r>
              <a:rPr lang="en-US" sz="800" dirty="0" err="1"/>
              <a:t>Is_kset_canalizing</a:t>
            </a:r>
            <a:r>
              <a:rPr lang="en-US" sz="800" dirty="0"/>
              <a:t>()	</a:t>
            </a:r>
            <a:r>
              <a:rPr lang="en-US" sz="800" dirty="0" err="1"/>
              <a:t>get_canalizing_strength</a:t>
            </a:r>
            <a:r>
              <a:rPr lang="en-US" sz="800" dirty="0"/>
              <a:t>()</a:t>
            </a:r>
          </a:p>
          <a:p>
            <a:r>
              <a:rPr lang="en-US" sz="800" dirty="0"/>
              <a:t>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E93D43-9F6D-C312-57FA-EFF5AAFBDD1E}"/>
              </a:ext>
            </a:extLst>
          </p:cNvPr>
          <p:cNvSpPr txBox="1"/>
          <p:nvPr/>
        </p:nvSpPr>
        <p:spPr>
          <a:xfrm>
            <a:off x="3913359" y="3633311"/>
            <a:ext cx="2690640" cy="98750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4. Boolean Network Analysis</a:t>
            </a:r>
          </a:p>
          <a:p>
            <a:r>
              <a:rPr lang="en-US" sz="800" dirty="0" err="1"/>
              <a:t>get_steady_states_asynchronous</a:t>
            </a:r>
            <a:r>
              <a:rPr lang="en-US" sz="800" dirty="0"/>
              <a:t>()</a:t>
            </a:r>
          </a:p>
          <a:p>
            <a:r>
              <a:rPr lang="en-US" sz="800" dirty="0" err="1"/>
              <a:t>get_Derrida_values</a:t>
            </a:r>
            <a:r>
              <a:rPr lang="en-US" sz="800" dirty="0"/>
              <a:t>()</a:t>
            </a:r>
          </a:p>
          <a:p>
            <a:r>
              <a:rPr lang="en-US" sz="800" dirty="0" err="1"/>
              <a:t>get_attractors_and_robustness_measures</a:t>
            </a:r>
            <a:r>
              <a:rPr lang="en-US" sz="800" dirty="0"/>
              <a:t>_</a:t>
            </a:r>
          </a:p>
          <a:p>
            <a:r>
              <a:rPr lang="en-US" sz="800" dirty="0"/>
              <a:t>synchronous()</a:t>
            </a:r>
          </a:p>
          <a:p>
            <a:r>
              <a:rPr lang="en-US" sz="800" dirty="0"/>
              <a:t>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46DDB8-E72E-6A34-BFFB-F00834FF9274}"/>
              </a:ext>
            </a:extLst>
          </p:cNvPr>
          <p:cNvSpPr txBox="1"/>
          <p:nvPr/>
        </p:nvSpPr>
        <p:spPr>
          <a:xfrm>
            <a:off x="3913359" y="1425337"/>
            <a:ext cx="2690640" cy="10556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2. Random Boolean Network Generators</a:t>
            </a:r>
          </a:p>
          <a:p>
            <a:r>
              <a:rPr lang="en-US" sz="800" dirty="0"/>
              <a:t>Generate random Boolean networks of defined size, degree distribution, canalizing depth or layer structure, bias, …</a:t>
            </a:r>
          </a:p>
          <a:p>
            <a:endParaRPr lang="en-US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0A1176-6492-53E4-830D-2FDA82078130}"/>
              </a:ext>
            </a:extLst>
          </p:cNvPr>
          <p:cNvSpPr txBox="1"/>
          <p:nvPr/>
        </p:nvSpPr>
        <p:spPr>
          <a:xfrm>
            <a:off x="2212899" y="2699583"/>
            <a:ext cx="2538465" cy="71508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5. Ensemble experiments</a:t>
            </a:r>
          </a:p>
          <a:p>
            <a:r>
              <a:rPr lang="en-US" sz="800" dirty="0"/>
              <a:t>Build reproducible pipelines for systematic studies:</a:t>
            </a:r>
          </a:p>
          <a:p>
            <a:r>
              <a:rPr lang="en-US" sz="800" dirty="0"/>
              <a:t>vary parameters and study function and network properties across ensembles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9403B9B-A14C-B3EB-CDB0-124300457DBA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1883190" y="2480945"/>
            <a:ext cx="0" cy="115236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DDC3916-02BD-2CD6-14BA-30313AB1033E}"/>
              </a:ext>
            </a:extLst>
          </p:cNvPr>
          <p:cNvCxnSpPr>
            <a:cxnSpLocks/>
          </p:cNvCxnSpPr>
          <p:nvPr/>
        </p:nvCxnSpPr>
        <p:spPr>
          <a:xfrm>
            <a:off x="5069840" y="2480945"/>
            <a:ext cx="11232" cy="115236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62C4D76-47CE-5E07-763C-C74A4F3A6D8F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3050903" y="1953141"/>
            <a:ext cx="862456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0D959E0-D9BB-67A9-4ACF-14BF2229DF2F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3050903" y="4127063"/>
            <a:ext cx="862456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1C43C74-F79F-9BD9-4B0D-C86AD3D8FF02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883190" y="2480945"/>
            <a:ext cx="355028" cy="26213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3CD7593-046B-3A4C-0B6F-B7EACAC98FE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1883190" y="3380204"/>
            <a:ext cx="355028" cy="253107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D9B5C6A-FE9E-E2AF-DB34-3817E4ACE0B9}"/>
              </a:ext>
            </a:extLst>
          </p:cNvPr>
          <p:cNvCxnSpPr>
            <a:cxnSpLocks/>
          </p:cNvCxnSpPr>
          <p:nvPr/>
        </p:nvCxnSpPr>
        <p:spPr>
          <a:xfrm flipH="1" flipV="1">
            <a:off x="4751364" y="3380204"/>
            <a:ext cx="318476" cy="253107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2108598-656A-FF35-DE1F-BC0E925D3133}"/>
              </a:ext>
            </a:extLst>
          </p:cNvPr>
          <p:cNvCxnSpPr>
            <a:cxnSpLocks/>
          </p:cNvCxnSpPr>
          <p:nvPr/>
        </p:nvCxnSpPr>
        <p:spPr>
          <a:xfrm flipH="1">
            <a:off x="4751363" y="2480945"/>
            <a:ext cx="318476" cy="253107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6E474E2-B899-5D6A-9107-9532F2ABFAA9}"/>
              </a:ext>
            </a:extLst>
          </p:cNvPr>
          <p:cNvSpPr txBox="1"/>
          <p:nvPr/>
        </p:nvSpPr>
        <p:spPr>
          <a:xfrm>
            <a:off x="3869202" y="1029990"/>
            <a:ext cx="1681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class </a:t>
            </a:r>
            <a:r>
              <a:rPr lang="en-US" sz="1200" dirty="0" err="1"/>
              <a:t>BooleanNetwork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FBCD24-2AB5-DC48-3C85-7CAA41A6D546}"/>
              </a:ext>
            </a:extLst>
          </p:cNvPr>
          <p:cNvSpPr txBox="1"/>
          <p:nvPr/>
        </p:nvSpPr>
        <p:spPr>
          <a:xfrm>
            <a:off x="715477" y="1046609"/>
            <a:ext cx="17083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class </a:t>
            </a:r>
            <a:r>
              <a:rPr lang="en-US" sz="1200" dirty="0" err="1"/>
              <a:t>BooleanFunction</a:t>
            </a:r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A94C1F-2208-F6C3-1A03-DC0692915494}"/>
              </a:ext>
            </a:extLst>
          </p:cNvPr>
          <p:cNvSpPr txBox="1"/>
          <p:nvPr/>
        </p:nvSpPr>
        <p:spPr>
          <a:xfrm>
            <a:off x="5172785" y="2767687"/>
            <a:ext cx="1431214" cy="57888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6. Interoperability</a:t>
            </a:r>
          </a:p>
          <a:p>
            <a:r>
              <a:rPr lang="en-US" sz="800" dirty="0"/>
              <a:t>Export/Import </a:t>
            </a:r>
            <a:r>
              <a:rPr lang="en-US" sz="800" dirty="0">
                <a:sym typeface="Wingdings" pitchFamily="2" charset="2"/>
              </a:rPr>
              <a:t></a:t>
            </a:r>
            <a:br>
              <a:rPr lang="en-US" sz="800" dirty="0">
                <a:sym typeface="Wingdings" pitchFamily="2" charset="2"/>
              </a:rPr>
            </a:br>
            <a:r>
              <a:rPr lang="en-US" sz="800" dirty="0">
                <a:sym typeface="Wingdings" pitchFamily="2" charset="2"/>
              </a:rPr>
              <a:t>CANA, </a:t>
            </a:r>
            <a:r>
              <a:rPr lang="en-US" sz="800" dirty="0" err="1">
                <a:sym typeface="Wingdings" pitchFamily="2" charset="2"/>
              </a:rPr>
              <a:t>PyBoolNet</a:t>
            </a:r>
            <a:r>
              <a:rPr lang="en-US" sz="800" dirty="0">
                <a:sym typeface="Wingdings" pitchFamily="2" charset="2"/>
              </a:rPr>
              <a:t>, …</a:t>
            </a:r>
            <a:endParaRPr lang="en-US" sz="8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7FA7003-1E13-5AD6-BA51-7E9E3239DF79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5888392" y="2480945"/>
            <a:ext cx="0" cy="286742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82489BA-5D53-F025-080D-AC348AA85041}"/>
              </a:ext>
            </a:extLst>
          </p:cNvPr>
          <p:cNvCxnSpPr>
            <a:cxnSpLocks/>
          </p:cNvCxnSpPr>
          <p:nvPr/>
        </p:nvCxnSpPr>
        <p:spPr>
          <a:xfrm>
            <a:off x="5888392" y="3346569"/>
            <a:ext cx="0" cy="286742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3904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BCC99-BFF3-2515-0634-2BBADF2F8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C7F4E4D2-E099-F81C-A05E-4DDB135E817C}"/>
              </a:ext>
            </a:extLst>
          </p:cNvPr>
          <p:cNvSpPr/>
          <p:nvPr/>
        </p:nvSpPr>
        <p:spPr>
          <a:xfrm>
            <a:off x="3716309" y="1061643"/>
            <a:ext cx="2755941" cy="3705304"/>
          </a:xfrm>
          <a:prstGeom prst="roundRect">
            <a:avLst>
              <a:gd name="adj" fmla="val 20354"/>
            </a:avLst>
          </a:prstGeom>
          <a:solidFill>
            <a:schemeClr val="tx2">
              <a:lumMod val="10000"/>
              <a:lumOff val="90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9191552-C878-C93F-605F-DF57B0B30E03}"/>
              </a:ext>
            </a:extLst>
          </p:cNvPr>
          <p:cNvSpPr/>
          <p:nvPr/>
        </p:nvSpPr>
        <p:spPr>
          <a:xfrm>
            <a:off x="525739" y="1090217"/>
            <a:ext cx="2755941" cy="3705304"/>
          </a:xfrm>
          <a:prstGeom prst="roundRect">
            <a:avLst>
              <a:gd name="adj" fmla="val 20354"/>
            </a:avLst>
          </a:prstGeom>
          <a:solidFill>
            <a:schemeClr val="tx2">
              <a:lumMod val="10000"/>
              <a:lumOff val="90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AA9EE6-11C5-A0A4-93B4-2D2087196CC4}"/>
              </a:ext>
            </a:extLst>
          </p:cNvPr>
          <p:cNvSpPr txBox="1"/>
          <p:nvPr/>
        </p:nvSpPr>
        <p:spPr>
          <a:xfrm>
            <a:off x="640505" y="1428274"/>
            <a:ext cx="253846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/>
              <a:t>Random Boolean Function Generators</a:t>
            </a:r>
          </a:p>
          <a:p>
            <a:r>
              <a:rPr lang="en-US" sz="800" dirty="0" err="1"/>
              <a:t>random_non_degenerate_function</a:t>
            </a:r>
            <a:r>
              <a:rPr lang="en-US" sz="800" dirty="0"/>
              <a:t>(n, bias)</a:t>
            </a:r>
          </a:p>
          <a:p>
            <a:r>
              <a:rPr lang="en-US" sz="800" dirty="0" err="1"/>
              <a:t>random_k_canalizing_function</a:t>
            </a:r>
            <a:r>
              <a:rPr lang="en-US" sz="800" dirty="0"/>
              <a:t>(n, k)</a:t>
            </a:r>
          </a:p>
          <a:p>
            <a:r>
              <a:rPr lang="en-US" sz="800" dirty="0" err="1"/>
              <a:t>random_NCF</a:t>
            </a:r>
            <a:r>
              <a:rPr lang="en-US" sz="800" dirty="0"/>
              <a:t>(n, </a:t>
            </a:r>
            <a:r>
              <a:rPr lang="en-US" sz="800" dirty="0" err="1"/>
              <a:t>layer_structure</a:t>
            </a:r>
            <a:r>
              <a:rPr lang="en-US" sz="800" dirty="0"/>
              <a:t>)</a:t>
            </a:r>
          </a:p>
          <a:p>
            <a:r>
              <a:rPr lang="en-US" sz="800" dirty="0"/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2A4C3D-B737-AE2F-71F6-77FDC7733A53}"/>
              </a:ext>
            </a:extLst>
          </p:cNvPr>
          <p:cNvSpPr txBox="1"/>
          <p:nvPr/>
        </p:nvSpPr>
        <p:spPr>
          <a:xfrm>
            <a:off x="640505" y="3558222"/>
            <a:ext cx="2538464" cy="98750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/>
              <a:t>Boolean Function Analysis</a:t>
            </a:r>
          </a:p>
          <a:p>
            <a:r>
              <a:rPr lang="en-US" sz="800" dirty="0" err="1"/>
              <a:t>is_monotonic</a:t>
            </a:r>
            <a:r>
              <a:rPr lang="en-US" sz="800" dirty="0"/>
              <a:t>()	</a:t>
            </a:r>
            <a:r>
              <a:rPr lang="en-US" sz="800" dirty="0" err="1"/>
              <a:t>get_symmetry_groups</a:t>
            </a:r>
            <a:r>
              <a:rPr lang="en-US" sz="800" dirty="0"/>
              <a:t>()</a:t>
            </a:r>
          </a:p>
          <a:p>
            <a:r>
              <a:rPr lang="en-US" sz="800" dirty="0" err="1"/>
              <a:t>is_degenerate</a:t>
            </a:r>
            <a:r>
              <a:rPr lang="en-US" sz="800" dirty="0"/>
              <a:t>()	</a:t>
            </a:r>
            <a:r>
              <a:rPr lang="en-US" sz="800" dirty="0" err="1"/>
              <a:t>get_average_sensitivity</a:t>
            </a:r>
            <a:r>
              <a:rPr lang="en-US" sz="800" dirty="0"/>
              <a:t>()</a:t>
            </a:r>
          </a:p>
          <a:p>
            <a:r>
              <a:rPr lang="en-US" sz="800" dirty="0" err="1"/>
              <a:t>Is_k_canalizing</a:t>
            </a:r>
            <a:r>
              <a:rPr lang="en-US" sz="800" dirty="0"/>
              <a:t>()	</a:t>
            </a:r>
            <a:r>
              <a:rPr lang="en-US" sz="800" dirty="0" err="1"/>
              <a:t>get_layer_structure</a:t>
            </a:r>
            <a:r>
              <a:rPr lang="en-US" sz="800" dirty="0"/>
              <a:t>()</a:t>
            </a:r>
          </a:p>
          <a:p>
            <a:r>
              <a:rPr lang="en-US" sz="800" dirty="0" err="1"/>
              <a:t>Is_kset_canalizing</a:t>
            </a:r>
            <a:r>
              <a:rPr lang="en-US" sz="800" dirty="0"/>
              <a:t>()	</a:t>
            </a:r>
            <a:r>
              <a:rPr lang="en-US" sz="800" dirty="0" err="1"/>
              <a:t>get_canalizing_strength</a:t>
            </a:r>
            <a:r>
              <a:rPr lang="en-US" sz="800" dirty="0"/>
              <a:t>()</a:t>
            </a:r>
          </a:p>
          <a:p>
            <a:r>
              <a:rPr lang="en-US" sz="800" dirty="0"/>
              <a:t>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12174E-88D6-19D5-3E11-09A4E62118FD}"/>
              </a:ext>
            </a:extLst>
          </p:cNvPr>
          <p:cNvSpPr txBox="1"/>
          <p:nvPr/>
        </p:nvSpPr>
        <p:spPr>
          <a:xfrm>
            <a:off x="3825048" y="3574573"/>
            <a:ext cx="2538463" cy="95345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/>
              <a:t>Boolean Network Analysis</a:t>
            </a:r>
          </a:p>
          <a:p>
            <a:r>
              <a:rPr lang="en-US" sz="800" dirty="0" err="1"/>
              <a:t>get_steady_states_asynchronous</a:t>
            </a:r>
            <a:r>
              <a:rPr lang="en-US" sz="800" dirty="0"/>
              <a:t>()</a:t>
            </a:r>
          </a:p>
          <a:p>
            <a:r>
              <a:rPr lang="en-US" sz="800" dirty="0" err="1"/>
              <a:t>get_attractors_and_robustness_synchronous</a:t>
            </a:r>
            <a:r>
              <a:rPr lang="en-US" sz="800" dirty="0"/>
              <a:t>()</a:t>
            </a:r>
          </a:p>
          <a:p>
            <a:r>
              <a:rPr lang="en-US" sz="800" dirty="0" err="1"/>
              <a:t>get_types_of_regulation</a:t>
            </a:r>
            <a:r>
              <a:rPr lang="en-US" sz="800" dirty="0"/>
              <a:t>()</a:t>
            </a:r>
          </a:p>
          <a:p>
            <a:r>
              <a:rPr lang="en-US" sz="800" dirty="0" err="1"/>
              <a:t>get_ffls</a:t>
            </a:r>
            <a:r>
              <a:rPr lang="en-US" sz="800" dirty="0"/>
              <a:t>()</a:t>
            </a:r>
          </a:p>
          <a:p>
            <a:r>
              <a:rPr lang="en-US" sz="800" dirty="0"/>
              <a:t>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32BCFE-5A74-DD22-B5A0-DF806E4478F3}"/>
              </a:ext>
            </a:extLst>
          </p:cNvPr>
          <p:cNvSpPr txBox="1"/>
          <p:nvPr/>
        </p:nvSpPr>
        <p:spPr>
          <a:xfrm>
            <a:off x="3825049" y="1428274"/>
            <a:ext cx="2538456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/>
              <a:t>Random Boolean Network Generators</a:t>
            </a:r>
          </a:p>
          <a:p>
            <a:r>
              <a:rPr lang="en-US" sz="800" dirty="0"/>
              <a:t>Generate random Boolean networks of defined size, degree distribution, canalizing depth, layer structure, bias, …</a:t>
            </a:r>
          </a:p>
          <a:p>
            <a:endParaRPr lang="en-US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D1E615-0133-8E7A-494F-891A03D4F713}"/>
              </a:ext>
            </a:extLst>
          </p:cNvPr>
          <p:cNvSpPr txBox="1"/>
          <p:nvPr/>
        </p:nvSpPr>
        <p:spPr>
          <a:xfrm>
            <a:off x="2196399" y="2575672"/>
            <a:ext cx="2538465" cy="68103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/>
              <a:t>Ensemble Experiments</a:t>
            </a:r>
          </a:p>
          <a:p>
            <a:r>
              <a:rPr lang="en-US" sz="800" dirty="0"/>
              <a:t>Build reproducible pipelines for systematic studies:</a:t>
            </a:r>
          </a:p>
          <a:p>
            <a:r>
              <a:rPr lang="en-US" sz="800" dirty="0"/>
              <a:t>vary parameters and study function and network properties across ensembles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6148DE3-88FE-2E45-57BC-6D81D3479281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1909737" y="2245519"/>
            <a:ext cx="1" cy="1312703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8EC6788-9327-107F-F0BF-636E61972058}"/>
              </a:ext>
            </a:extLst>
          </p:cNvPr>
          <p:cNvCxnSpPr>
            <a:cxnSpLocks/>
          </p:cNvCxnSpPr>
          <p:nvPr/>
        </p:nvCxnSpPr>
        <p:spPr>
          <a:xfrm>
            <a:off x="5018225" y="2246476"/>
            <a:ext cx="0" cy="1310787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943056B-8E7C-22AC-384B-F6BFEC18C1FA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3178970" y="1836897"/>
            <a:ext cx="646079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800CD7F-F1D7-D141-A669-1C1E7121E604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3178969" y="4051300"/>
            <a:ext cx="646079" cy="674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01BE3EE-4B2B-B9E9-807C-1432898E854C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909738" y="2245519"/>
            <a:ext cx="308329" cy="333553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4D7F1A8-D56F-696A-F251-AB5438B83349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1909737" y="3265436"/>
            <a:ext cx="308330" cy="29278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A92518D-6DA3-2B2A-CB61-817B8558B963}"/>
              </a:ext>
            </a:extLst>
          </p:cNvPr>
          <p:cNvCxnSpPr>
            <a:cxnSpLocks/>
          </p:cNvCxnSpPr>
          <p:nvPr/>
        </p:nvCxnSpPr>
        <p:spPr>
          <a:xfrm flipH="1" flipV="1">
            <a:off x="4725699" y="3241020"/>
            <a:ext cx="299965" cy="33872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F19AB48-8110-2536-48CE-AB5D6500F3EC}"/>
              </a:ext>
            </a:extLst>
          </p:cNvPr>
          <p:cNvCxnSpPr>
            <a:cxnSpLocks/>
          </p:cNvCxnSpPr>
          <p:nvPr/>
        </p:nvCxnSpPr>
        <p:spPr>
          <a:xfrm flipH="1">
            <a:off x="4692254" y="2245519"/>
            <a:ext cx="329366" cy="333553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C2D3A4E-CD9B-2F16-65A6-5F750E1EC401}"/>
              </a:ext>
            </a:extLst>
          </p:cNvPr>
          <p:cNvSpPr txBox="1"/>
          <p:nvPr/>
        </p:nvSpPr>
        <p:spPr>
          <a:xfrm>
            <a:off x="3912362" y="1153099"/>
            <a:ext cx="14318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class </a:t>
            </a:r>
            <a:r>
              <a:rPr lang="en-US" sz="1000" dirty="0" err="1">
                <a:solidFill>
                  <a:schemeClr val="accent1"/>
                </a:solidFill>
              </a:rPr>
              <a:t>BooleanNetwork</a:t>
            </a:r>
            <a:endParaRPr lang="en-US" sz="1000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0460BE-3EB7-DDD9-1615-745592F348E6}"/>
              </a:ext>
            </a:extLst>
          </p:cNvPr>
          <p:cNvSpPr txBox="1"/>
          <p:nvPr/>
        </p:nvSpPr>
        <p:spPr>
          <a:xfrm>
            <a:off x="715476" y="1153100"/>
            <a:ext cx="14542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class </a:t>
            </a:r>
            <a:r>
              <a:rPr lang="en-US" sz="1000" dirty="0" err="1">
                <a:solidFill>
                  <a:schemeClr val="accent1"/>
                </a:solidFill>
              </a:rPr>
              <a:t>BooleanFunction</a:t>
            </a:r>
            <a:endParaRPr lang="en-US" sz="1000" dirty="0">
              <a:solidFill>
                <a:schemeClr val="accent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715B86-B7FF-611D-0EC6-4ACE7C5D2932}"/>
              </a:ext>
            </a:extLst>
          </p:cNvPr>
          <p:cNvSpPr txBox="1"/>
          <p:nvPr/>
        </p:nvSpPr>
        <p:spPr>
          <a:xfrm>
            <a:off x="5084467" y="2641880"/>
            <a:ext cx="1279037" cy="54483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/>
              <a:t>Interoperability</a:t>
            </a:r>
          </a:p>
          <a:p>
            <a:r>
              <a:rPr lang="en-US" sz="800" dirty="0"/>
              <a:t>Export/Import </a:t>
            </a:r>
            <a:r>
              <a:rPr lang="en-US" sz="800" dirty="0">
                <a:sym typeface="Wingdings" pitchFamily="2" charset="2"/>
              </a:rPr>
              <a:t></a:t>
            </a:r>
            <a:br>
              <a:rPr lang="en-US" sz="800" dirty="0">
                <a:sym typeface="Wingdings" pitchFamily="2" charset="2"/>
              </a:rPr>
            </a:br>
            <a:r>
              <a:rPr lang="en-US" sz="800" dirty="0">
                <a:sym typeface="Wingdings" pitchFamily="2" charset="2"/>
              </a:rPr>
              <a:t>CANA, </a:t>
            </a:r>
            <a:r>
              <a:rPr lang="en-US" sz="800" dirty="0" err="1">
                <a:sym typeface="Wingdings" pitchFamily="2" charset="2"/>
              </a:rPr>
              <a:t>PyBoolNet</a:t>
            </a:r>
            <a:r>
              <a:rPr lang="en-US" sz="800" dirty="0">
                <a:sym typeface="Wingdings" pitchFamily="2" charset="2"/>
              </a:rPr>
              <a:t>, …</a:t>
            </a:r>
            <a:endParaRPr lang="en-US" sz="8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F164AEA-7EA9-8E24-5FA2-BB0FEB00F400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5723986" y="2245519"/>
            <a:ext cx="0" cy="39636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519C661-BC02-A57D-0B10-50C9B361B8D5}"/>
              </a:ext>
            </a:extLst>
          </p:cNvPr>
          <p:cNvCxnSpPr>
            <a:cxnSpLocks/>
          </p:cNvCxnSpPr>
          <p:nvPr/>
        </p:nvCxnSpPr>
        <p:spPr>
          <a:xfrm>
            <a:off x="5743399" y="3186710"/>
            <a:ext cx="0" cy="39636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2302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7EC9E-7322-44B4-DF74-47B0AD2CD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07E38AE7-025E-3F1C-42EE-7EF17DAEBD02}"/>
              </a:ext>
            </a:extLst>
          </p:cNvPr>
          <p:cNvSpPr/>
          <p:nvPr/>
        </p:nvSpPr>
        <p:spPr>
          <a:xfrm>
            <a:off x="3716309" y="1061643"/>
            <a:ext cx="2755941" cy="3705304"/>
          </a:xfrm>
          <a:prstGeom prst="roundRect">
            <a:avLst>
              <a:gd name="adj" fmla="val 20354"/>
            </a:avLst>
          </a:prstGeom>
          <a:solidFill>
            <a:schemeClr val="tx2">
              <a:lumMod val="10000"/>
              <a:lumOff val="90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69E375E-7E20-2571-23BD-EBFDC5B52EDD}"/>
              </a:ext>
            </a:extLst>
          </p:cNvPr>
          <p:cNvSpPr/>
          <p:nvPr/>
        </p:nvSpPr>
        <p:spPr>
          <a:xfrm>
            <a:off x="525739" y="1090217"/>
            <a:ext cx="2755941" cy="3705304"/>
          </a:xfrm>
          <a:prstGeom prst="roundRect">
            <a:avLst>
              <a:gd name="adj" fmla="val 20354"/>
            </a:avLst>
          </a:prstGeom>
          <a:solidFill>
            <a:schemeClr val="tx2">
              <a:lumMod val="10000"/>
              <a:lumOff val="90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C52EDB-2031-7665-3923-E5B5993B1B7A}"/>
              </a:ext>
            </a:extLst>
          </p:cNvPr>
          <p:cNvSpPr txBox="1"/>
          <p:nvPr/>
        </p:nvSpPr>
        <p:spPr>
          <a:xfrm>
            <a:off x="640505" y="1428274"/>
            <a:ext cx="2356083" cy="54483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/>
              <a:t>Random Boolean Function Generators</a:t>
            </a:r>
          </a:p>
          <a:p>
            <a:r>
              <a:rPr lang="en-US" sz="800" dirty="0"/>
              <a:t>Sample functions with prescribed structural features uniformly at random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0391BC-A567-4AA6-B146-24F684DC7C4B}"/>
              </a:ext>
            </a:extLst>
          </p:cNvPr>
          <p:cNvSpPr txBox="1"/>
          <p:nvPr/>
        </p:nvSpPr>
        <p:spPr>
          <a:xfrm>
            <a:off x="640505" y="3558222"/>
            <a:ext cx="2346954" cy="54483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/>
              <a:t>Boolean Function Analysis</a:t>
            </a:r>
            <a:br>
              <a:rPr lang="en-US" sz="1000" dirty="0"/>
            </a:br>
            <a:r>
              <a:rPr lang="en-US" sz="800" dirty="0"/>
              <a:t>canalization; collective canalization; symmetry; sensitivity; degeneracy; 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5A3C15-DA6E-0030-3CA8-281CD248ECEE}"/>
              </a:ext>
            </a:extLst>
          </p:cNvPr>
          <p:cNvSpPr txBox="1"/>
          <p:nvPr/>
        </p:nvSpPr>
        <p:spPr>
          <a:xfrm>
            <a:off x="3825048" y="3574573"/>
            <a:ext cx="2538463" cy="54483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/>
              <a:t>Boolean Network Analysis</a:t>
            </a:r>
          </a:p>
          <a:p>
            <a:r>
              <a:rPr lang="en-US" sz="800" dirty="0"/>
              <a:t>attractors under synchronous &amp; asynchronous update; network motifs; stability &amp; robustness; 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CA17D7-E1C9-6887-5A39-5E13A8559D88}"/>
              </a:ext>
            </a:extLst>
          </p:cNvPr>
          <p:cNvSpPr txBox="1"/>
          <p:nvPr/>
        </p:nvSpPr>
        <p:spPr>
          <a:xfrm>
            <a:off x="3825049" y="1428274"/>
            <a:ext cx="2538456" cy="85129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1"/>
            <a:r>
              <a:rPr lang="en-US" sz="1000" dirty="0"/>
              <a:t>Random Boolean Network Generators</a:t>
            </a:r>
          </a:p>
          <a:p>
            <a:pPr lvl="1"/>
            <a:r>
              <a:rPr lang="en-US" sz="800" dirty="0"/>
              <a:t>Generate random Boolean networks of defined size, degree distribution, canalizing properties, bias, 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DE0923-6F4C-9C47-EB15-6B708E8D13B7}"/>
              </a:ext>
            </a:extLst>
          </p:cNvPr>
          <p:cNvSpPr txBox="1"/>
          <p:nvPr/>
        </p:nvSpPr>
        <p:spPr>
          <a:xfrm>
            <a:off x="2169720" y="2190509"/>
            <a:ext cx="2538465" cy="40862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/>
              <a:t>Ensemble Experiments</a:t>
            </a:r>
          </a:p>
          <a:p>
            <a:r>
              <a:rPr lang="en-US" sz="800" dirty="0"/>
              <a:t>Systematic analysis of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F089599-FBE1-9120-0B48-5B67E543806C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1813982" y="1973104"/>
            <a:ext cx="4565" cy="158511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EF573A6-8AF2-4D88-EA9C-3FD69E919F1D}"/>
              </a:ext>
            </a:extLst>
          </p:cNvPr>
          <p:cNvCxnSpPr>
            <a:cxnSpLocks/>
          </p:cNvCxnSpPr>
          <p:nvPr/>
        </p:nvCxnSpPr>
        <p:spPr>
          <a:xfrm>
            <a:off x="5018225" y="2246476"/>
            <a:ext cx="0" cy="1310787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92BEAD4-AB3F-F6AD-6CDA-BED74B79A387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2996588" y="1700689"/>
            <a:ext cx="828461" cy="153234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EDDB56A-C114-C385-569F-409B01C198DC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2987459" y="3830637"/>
            <a:ext cx="837589" cy="1635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BF53E0A-B02D-112A-A7D2-4396469776D2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818547" y="1973104"/>
            <a:ext cx="399520" cy="60596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B489A06-47F0-6FF0-18B3-04BCBBF9F369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1813982" y="3265436"/>
            <a:ext cx="404085" cy="29278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42C2428-94BC-9399-1EF7-32F96997761E}"/>
              </a:ext>
            </a:extLst>
          </p:cNvPr>
          <p:cNvCxnSpPr>
            <a:cxnSpLocks/>
          </p:cNvCxnSpPr>
          <p:nvPr/>
        </p:nvCxnSpPr>
        <p:spPr>
          <a:xfrm flipH="1" flipV="1">
            <a:off x="4725699" y="3241020"/>
            <a:ext cx="299965" cy="33872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D637304-8670-97DE-A479-776A5EFE60B2}"/>
              </a:ext>
            </a:extLst>
          </p:cNvPr>
          <p:cNvCxnSpPr>
            <a:cxnSpLocks/>
          </p:cNvCxnSpPr>
          <p:nvPr/>
        </p:nvCxnSpPr>
        <p:spPr>
          <a:xfrm flipH="1">
            <a:off x="4692254" y="2245519"/>
            <a:ext cx="329366" cy="333553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F424E94-092B-07C6-9A8F-8B9F8229CD77}"/>
              </a:ext>
            </a:extLst>
          </p:cNvPr>
          <p:cNvSpPr txBox="1"/>
          <p:nvPr/>
        </p:nvSpPr>
        <p:spPr>
          <a:xfrm>
            <a:off x="3912362" y="1153099"/>
            <a:ext cx="14318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class </a:t>
            </a:r>
            <a:r>
              <a:rPr lang="en-US" sz="1000" dirty="0" err="1">
                <a:solidFill>
                  <a:schemeClr val="accent1"/>
                </a:solidFill>
              </a:rPr>
              <a:t>BooleanNetwork</a:t>
            </a:r>
            <a:endParaRPr lang="en-US" sz="1000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7915A2-B4AC-650F-E214-ABF8DA25ACC4}"/>
              </a:ext>
            </a:extLst>
          </p:cNvPr>
          <p:cNvSpPr txBox="1"/>
          <p:nvPr/>
        </p:nvSpPr>
        <p:spPr>
          <a:xfrm>
            <a:off x="715476" y="1153100"/>
            <a:ext cx="14542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class </a:t>
            </a:r>
            <a:r>
              <a:rPr lang="en-US" sz="1000" dirty="0" err="1">
                <a:solidFill>
                  <a:schemeClr val="accent1"/>
                </a:solidFill>
              </a:rPr>
              <a:t>BooleanFunction</a:t>
            </a:r>
            <a:endParaRPr lang="en-US" sz="1000" dirty="0">
              <a:solidFill>
                <a:schemeClr val="accent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C3FDDD-0928-63D0-8B7B-50CB28D80384}"/>
              </a:ext>
            </a:extLst>
          </p:cNvPr>
          <p:cNvSpPr txBox="1"/>
          <p:nvPr/>
        </p:nvSpPr>
        <p:spPr>
          <a:xfrm>
            <a:off x="5084467" y="2641880"/>
            <a:ext cx="1279037" cy="54483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/>
              <a:t>Interoperability</a:t>
            </a:r>
          </a:p>
          <a:p>
            <a:r>
              <a:rPr lang="en-US" sz="800" dirty="0"/>
              <a:t>Export/Import </a:t>
            </a:r>
            <a:r>
              <a:rPr lang="en-US" sz="800" dirty="0">
                <a:sym typeface="Wingdings" pitchFamily="2" charset="2"/>
              </a:rPr>
              <a:t></a:t>
            </a:r>
            <a:br>
              <a:rPr lang="en-US" sz="800" dirty="0">
                <a:sym typeface="Wingdings" pitchFamily="2" charset="2"/>
              </a:rPr>
            </a:br>
            <a:r>
              <a:rPr lang="en-US" sz="800" dirty="0">
                <a:sym typeface="Wingdings" pitchFamily="2" charset="2"/>
              </a:rPr>
              <a:t>CANA, </a:t>
            </a:r>
            <a:r>
              <a:rPr lang="en-US" sz="800" dirty="0" err="1">
                <a:sym typeface="Wingdings" pitchFamily="2" charset="2"/>
              </a:rPr>
              <a:t>PyBoolNet</a:t>
            </a:r>
            <a:r>
              <a:rPr lang="en-US" sz="800" dirty="0">
                <a:sym typeface="Wingdings" pitchFamily="2" charset="2"/>
              </a:rPr>
              <a:t>, …</a:t>
            </a:r>
            <a:endParaRPr lang="en-US" sz="8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BE4D534-C544-7AB6-AAE7-54BE79E438F5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5723986" y="2245519"/>
            <a:ext cx="0" cy="39636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685A585-E2F8-7127-FD1F-8B0AD9F7725F}"/>
              </a:ext>
            </a:extLst>
          </p:cNvPr>
          <p:cNvCxnSpPr>
            <a:cxnSpLocks/>
          </p:cNvCxnSpPr>
          <p:nvPr/>
        </p:nvCxnSpPr>
        <p:spPr>
          <a:xfrm>
            <a:off x="5743399" y="3186710"/>
            <a:ext cx="0" cy="39636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560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9A9A4-1082-FBC0-54AE-FE2376B69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EF3BA4-62FE-10A2-F798-432A682F68A0}"/>
              </a:ext>
            </a:extLst>
          </p:cNvPr>
          <p:cNvSpPr txBox="1"/>
          <p:nvPr/>
        </p:nvSpPr>
        <p:spPr>
          <a:xfrm>
            <a:off x="2706050" y="2129598"/>
            <a:ext cx="2551750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b="1" dirty="0"/>
              <a:t>User Input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Network parameters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Constraints on topology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Constraints on functions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Optional: Network for null model matching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DFA139-0033-1D87-5965-1612A7046E0A}"/>
              </a:ext>
            </a:extLst>
          </p:cNvPr>
          <p:cNvSpPr txBox="1"/>
          <p:nvPr/>
        </p:nvSpPr>
        <p:spPr>
          <a:xfrm>
            <a:off x="2706004" y="3840054"/>
            <a:ext cx="2551796" cy="136207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b="1" dirty="0"/>
              <a:t>Generation</a:t>
            </a:r>
            <a:r>
              <a:rPr lang="en-US" sz="8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 dirty="0"/>
              <a:t>Random Boolean Function Generators </a:t>
            </a:r>
            <a:br>
              <a:rPr lang="en-US" sz="800" dirty="0"/>
            </a:br>
            <a:r>
              <a:rPr lang="en-US" sz="800" i="1" dirty="0"/>
              <a:t>Generate functions with prescribed features: canalizing depth, layer structure, bias, …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 dirty="0"/>
              <a:t>Random Boolean Network Generators</a:t>
            </a:r>
            <a:br>
              <a:rPr lang="en-US" sz="800" dirty="0"/>
            </a:br>
            <a:r>
              <a:rPr lang="en-US" sz="800" i="1" dirty="0"/>
              <a:t>Generate networks with controlled function-level and topological properties:</a:t>
            </a:r>
            <a:br>
              <a:rPr lang="en-US" sz="800" i="1" dirty="0"/>
            </a:br>
            <a:r>
              <a:rPr lang="en-US" sz="800" i="1" dirty="0"/>
              <a:t>degree distribution, wiring diagram, preserved bias and/or canalizing properties, 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E02E2B-C70B-A642-1E2A-F43C49D2DC31}"/>
              </a:ext>
            </a:extLst>
          </p:cNvPr>
          <p:cNvSpPr txBox="1"/>
          <p:nvPr/>
        </p:nvSpPr>
        <p:spPr>
          <a:xfrm>
            <a:off x="5613739" y="3976261"/>
            <a:ext cx="2682768" cy="122586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b="1" dirty="0"/>
              <a:t>Analysis</a:t>
            </a:r>
            <a:r>
              <a:rPr lang="en-US" sz="8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Function-level metrics </a:t>
            </a:r>
            <a:br>
              <a:rPr lang="en-US" sz="800" dirty="0"/>
            </a:br>
            <a:r>
              <a:rPr lang="en-US" sz="800" i="1" dirty="0"/>
              <a:t>canalization, redundancy, symmetry, sensitivity, monotonicity, …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Structural network-level metrics </a:t>
            </a:r>
            <a:br>
              <a:rPr lang="en-US" sz="800" dirty="0"/>
            </a:br>
            <a:r>
              <a:rPr lang="en-US" sz="800" dirty="0"/>
              <a:t>recurring motifs, modularity, …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i="1" dirty="0"/>
              <a:t>Network dynamics metrics</a:t>
            </a:r>
            <a:br>
              <a:rPr lang="en-US" sz="800" i="1" dirty="0"/>
            </a:br>
            <a:r>
              <a:rPr lang="en-US" sz="800" i="1" dirty="0"/>
              <a:t>attractors, stability to perturbation, …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27E6E4-2E41-6DC0-D66A-4CF32E7E8EBA}"/>
              </a:ext>
            </a:extLst>
          </p:cNvPr>
          <p:cNvSpPr txBox="1"/>
          <p:nvPr/>
        </p:nvSpPr>
        <p:spPr>
          <a:xfrm>
            <a:off x="5613739" y="2115572"/>
            <a:ext cx="2682768" cy="153233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b="1" dirty="0"/>
              <a:t>Scientific advances through ensemble experiments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Compare 5000+ Boolean regulatory functions from published bio models with random functions to reveal design principles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Explore the impact of function-level and topological parameters on network dynamics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Validate the significance of features in biological networks by comparison to ensemble of matched null models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BE494B3-1C38-AE25-9A12-52B1E330AB0A}"/>
              </a:ext>
            </a:extLst>
          </p:cNvPr>
          <p:cNvCxnSpPr>
            <a:cxnSpLocks/>
            <a:stCxn id="2" idx="2"/>
            <a:endCxn id="17" idx="0"/>
          </p:cNvCxnSpPr>
          <p:nvPr/>
        </p:nvCxnSpPr>
        <p:spPr>
          <a:xfrm flipH="1">
            <a:off x="3981902" y="2946843"/>
            <a:ext cx="23" cy="89321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7604F8A-E310-3EFD-9412-5D29BE5284C8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5257800" y="4521092"/>
            <a:ext cx="355939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14D94DD-3A07-3830-6ECC-67BD852BF7C0}"/>
              </a:ext>
            </a:extLst>
          </p:cNvPr>
          <p:cNvCxnSpPr>
            <a:cxnSpLocks/>
            <a:stCxn id="18" idx="0"/>
            <a:endCxn id="19" idx="2"/>
          </p:cNvCxnSpPr>
          <p:nvPr/>
        </p:nvCxnSpPr>
        <p:spPr>
          <a:xfrm flipV="1">
            <a:off x="6955123" y="3647906"/>
            <a:ext cx="0" cy="328355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4653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34C79-07B4-59F9-3A28-D83B5D6D9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D0AC01-FE54-4085-1975-447DEA318C94}"/>
              </a:ext>
            </a:extLst>
          </p:cNvPr>
          <p:cNvSpPr txBox="1"/>
          <p:nvPr/>
        </p:nvSpPr>
        <p:spPr>
          <a:xfrm>
            <a:off x="2562327" y="2129598"/>
            <a:ext cx="2695474" cy="817245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b="1" u="sng" dirty="0"/>
              <a:t>User Input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800" dirty="0"/>
              <a:t>Network parameters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800" dirty="0"/>
              <a:t>Constraints on topology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800" dirty="0"/>
              <a:t>Constraints on functions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800" dirty="0"/>
              <a:t>Optional: Boolean network for null model matching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E35789-5F2F-7726-7B85-FDB12FE10BE2}"/>
              </a:ext>
            </a:extLst>
          </p:cNvPr>
          <p:cNvSpPr txBox="1"/>
          <p:nvPr/>
        </p:nvSpPr>
        <p:spPr>
          <a:xfrm>
            <a:off x="5591791" y="2129598"/>
            <a:ext cx="2695473" cy="1362075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b="1" u="sng" dirty="0"/>
              <a:t>Generation</a:t>
            </a:r>
            <a:r>
              <a:rPr lang="en-US" sz="800" dirty="0"/>
              <a:t> 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800" b="1" dirty="0"/>
              <a:t>Random Boolean Function Generators </a:t>
            </a:r>
            <a:br>
              <a:rPr lang="en-US" sz="800" dirty="0"/>
            </a:br>
            <a:r>
              <a:rPr lang="en-US" sz="800" i="1" dirty="0"/>
              <a:t>Sample functions </a:t>
            </a:r>
            <a:r>
              <a:rPr lang="en-US" sz="800" b="1" dirty="0"/>
              <a:t>uniformly</a:t>
            </a:r>
            <a:r>
              <a:rPr lang="en-US" sz="800" i="1" dirty="0"/>
              <a:t> with prescribed canalizing depth, layer structure, bias, …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800" b="1" dirty="0"/>
              <a:t>Random Boolean Network Generators</a:t>
            </a:r>
            <a:br>
              <a:rPr lang="en-US" sz="800" dirty="0"/>
            </a:br>
            <a:r>
              <a:rPr lang="en-US" sz="800" i="1" dirty="0"/>
              <a:t>Generate networks with controlled topology and  function-level constraints:</a:t>
            </a:r>
            <a:br>
              <a:rPr lang="en-US" sz="800" i="1" dirty="0"/>
            </a:br>
            <a:r>
              <a:rPr lang="en-US" sz="800" i="1" dirty="0"/>
              <a:t>degree distribution or specific wiring diagram, </a:t>
            </a:r>
            <a:br>
              <a:rPr lang="en-US" sz="800" i="1" dirty="0"/>
            </a:br>
            <a:r>
              <a:rPr lang="en-US" sz="800" i="1" dirty="0"/>
              <a:t>bias, canalizing properties, 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E41792-2E31-D344-F837-D9E5F1917539}"/>
              </a:ext>
            </a:extLst>
          </p:cNvPr>
          <p:cNvSpPr txBox="1"/>
          <p:nvPr/>
        </p:nvSpPr>
        <p:spPr>
          <a:xfrm>
            <a:off x="5591792" y="3742152"/>
            <a:ext cx="2695472" cy="1225868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b="1" u="sng" dirty="0"/>
              <a:t>Analysis</a:t>
            </a:r>
            <a:r>
              <a:rPr lang="en-US" sz="800" dirty="0"/>
              <a:t> 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800" b="1" dirty="0"/>
              <a:t>Function-level metrics </a:t>
            </a:r>
            <a:br>
              <a:rPr lang="en-US" sz="800" dirty="0"/>
            </a:br>
            <a:r>
              <a:rPr lang="en-US" sz="800" i="1" dirty="0"/>
              <a:t>canalization, redundancy, symmetry, sensitivity, monotonicity, …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800" b="1" dirty="0"/>
              <a:t>Structural network-level metrics </a:t>
            </a:r>
            <a:br>
              <a:rPr lang="en-US" sz="800" dirty="0"/>
            </a:br>
            <a:r>
              <a:rPr lang="en-US" sz="800" dirty="0"/>
              <a:t>recurring motifs, modularity, …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800" b="1" i="1" dirty="0"/>
              <a:t>Network dynamics metrics</a:t>
            </a:r>
            <a:br>
              <a:rPr lang="en-US" sz="800" i="1" dirty="0"/>
            </a:br>
            <a:r>
              <a:rPr lang="en-US" sz="800" i="1" dirty="0"/>
              <a:t>attractors, stability to perturbation, …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0B4262-C410-82C9-7060-8A4B80A5DCAD}"/>
              </a:ext>
            </a:extLst>
          </p:cNvPr>
          <p:cNvSpPr txBox="1"/>
          <p:nvPr/>
        </p:nvSpPr>
        <p:spPr>
          <a:xfrm>
            <a:off x="2562327" y="3200493"/>
            <a:ext cx="2695473" cy="1770698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b="1" u="sng" dirty="0"/>
              <a:t>Ensemble experiments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800" b="1" dirty="0"/>
              <a:t>Function-level characterization (Fig 2A)</a:t>
            </a:r>
            <a:br>
              <a:rPr lang="en-US" sz="800" dirty="0"/>
            </a:br>
            <a:r>
              <a:rPr lang="en-US" sz="800" dirty="0"/>
              <a:t>Compare 5,000+ biological Boolean functions with constraint-matched random ensembles to uncover structural design principles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800" b="1" dirty="0"/>
              <a:t>Parameter space exploration (Fig 2B)</a:t>
            </a:r>
            <a:br>
              <a:rPr lang="en-US" sz="800" dirty="0"/>
            </a:br>
            <a:r>
              <a:rPr lang="en-US" sz="800" dirty="0"/>
              <a:t>Systematically quantify how function-level and topological parameters shape network dynamics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800" b="1" dirty="0"/>
              <a:t>Null model hypothesis testing (Fig 2C)</a:t>
            </a:r>
            <a:br>
              <a:rPr lang="en-US" sz="800" dirty="0"/>
            </a:br>
            <a:r>
              <a:rPr lang="en-US" sz="800" dirty="0"/>
              <a:t>Assess the statistical significance of structural and dynamical features in biological networks using ensembles of matched null models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9E1893C-10B0-4EB4-271E-36DB21C0759D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5257801" y="2538220"/>
            <a:ext cx="333991" cy="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B758DCF-4FFB-E8A7-F4B1-F970AFEE391E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6939528" y="3491673"/>
            <a:ext cx="0" cy="250479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5BBD938-382A-FF54-6DE7-145EB8C52946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5257800" y="4355086"/>
            <a:ext cx="333992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9902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0A55B-B4D7-EA6D-FC93-36266B78B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30D08E-44AE-D0A2-1AF4-8A2281AA45A1}"/>
              </a:ext>
            </a:extLst>
          </p:cNvPr>
          <p:cNvSpPr txBox="1"/>
          <p:nvPr/>
        </p:nvSpPr>
        <p:spPr>
          <a:xfrm>
            <a:off x="2464890" y="1429795"/>
            <a:ext cx="2931569" cy="1140143"/>
          </a:xfrm>
          <a:prstGeom prst="roundRect">
            <a:avLst>
              <a:gd name="adj" fmla="val 5071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b="1" dirty="0"/>
              <a:t>User Input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800" b="1" dirty="0"/>
              <a:t>Random network design</a:t>
            </a:r>
            <a:br>
              <a:rPr lang="en-US" sz="800" b="1" dirty="0"/>
            </a:br>
            <a:r>
              <a:rPr lang="en-US" sz="800" dirty="0"/>
              <a:t>Specify network size, topological constraints (in-degree distribution, self-loops, strong connectivity, …), functional constraints (canalizing depth, layer structure, bias, …)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800" b="1" dirty="0"/>
              <a:t>Biological network for matched null models</a:t>
            </a:r>
            <a:br>
              <a:rPr lang="en-US" sz="800" b="1" dirty="0"/>
            </a:br>
            <a:r>
              <a:rPr lang="en-US" sz="800" dirty="0"/>
              <a:t>Decide whether to preserve full wiring diagram, in- and/or out-degree distribution, canalizing depth, bias, …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E14F3E-CB16-C533-3B63-D46FB2C17C1D}"/>
              </a:ext>
            </a:extLst>
          </p:cNvPr>
          <p:cNvSpPr txBox="1"/>
          <p:nvPr/>
        </p:nvSpPr>
        <p:spPr>
          <a:xfrm>
            <a:off x="5672350" y="1429795"/>
            <a:ext cx="2931557" cy="1380411"/>
          </a:xfrm>
          <a:prstGeom prst="roundRect">
            <a:avLst>
              <a:gd name="adj" fmla="val 3851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b="1" dirty="0"/>
              <a:t>Controlled Generation</a:t>
            </a:r>
            <a:r>
              <a:rPr lang="en-US" sz="800" dirty="0"/>
              <a:t> 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800" b="1" dirty="0"/>
              <a:t>Boolean Function Generators </a:t>
            </a:r>
            <a:br>
              <a:rPr lang="en-US" sz="800" dirty="0"/>
            </a:br>
            <a:r>
              <a:rPr lang="en-US" sz="800" dirty="0"/>
              <a:t>Function-uniform sampling under constraints:</a:t>
            </a:r>
            <a:br>
              <a:rPr lang="en-US" sz="800" dirty="0"/>
            </a:br>
            <a:r>
              <a:rPr lang="en-US" sz="800" dirty="0"/>
              <a:t>canalizing depth, layer structure, bias, ...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800" b="1" dirty="0"/>
              <a:t>Boolean Network Generators</a:t>
            </a:r>
            <a:br>
              <a:rPr lang="en-US" sz="800" dirty="0"/>
            </a:br>
            <a:r>
              <a:rPr lang="en-US" sz="800" dirty="0"/>
              <a:t>Controlled topology and update-rule ensembles:</a:t>
            </a:r>
            <a:br>
              <a:rPr lang="en-US" sz="800" dirty="0"/>
            </a:br>
            <a:r>
              <a:rPr lang="en-US" sz="800" dirty="0"/>
              <a:t>degree distribution, function-level constraints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800" b="1" dirty="0"/>
              <a:t>Matched null-model generators</a:t>
            </a:r>
            <a:br>
              <a:rPr lang="en-US" sz="800" b="1" dirty="0"/>
            </a:br>
            <a:r>
              <a:rPr lang="en-US" sz="800" dirty="0"/>
              <a:t>Preserve selected biological features while randomizing remaining network properties</a:t>
            </a:r>
            <a:endParaRPr lang="en-US" sz="8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5D657E-674E-54F6-3B4C-5AE3527EB8EF}"/>
              </a:ext>
            </a:extLst>
          </p:cNvPr>
          <p:cNvSpPr txBox="1"/>
          <p:nvPr/>
        </p:nvSpPr>
        <p:spPr>
          <a:xfrm>
            <a:off x="5657161" y="3109306"/>
            <a:ext cx="2935224" cy="1254919"/>
          </a:xfrm>
          <a:prstGeom prst="roundRect">
            <a:avLst>
              <a:gd name="adj" fmla="val 4583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b="1" dirty="0"/>
              <a:t>Analysis</a:t>
            </a:r>
            <a:r>
              <a:rPr lang="en-US" sz="800" dirty="0"/>
              <a:t> 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800" b="1" dirty="0"/>
              <a:t>Function-level analysis </a:t>
            </a:r>
            <a:br>
              <a:rPr lang="en-US" sz="800" dirty="0"/>
            </a:br>
            <a:r>
              <a:rPr lang="en-US" sz="800" dirty="0"/>
              <a:t>canalization, collective canalization, redundancy, symmetry, sensitivity, monotonicity, …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800" b="1" dirty="0"/>
              <a:t>Network structure analysis </a:t>
            </a:r>
            <a:br>
              <a:rPr lang="en-US" sz="800" dirty="0"/>
            </a:br>
            <a:r>
              <a:rPr lang="en-US" sz="800" dirty="0"/>
              <a:t>feedback and feed-forward loops, modularity, …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800" b="1" dirty="0"/>
              <a:t>Dynamical analysis</a:t>
            </a:r>
            <a:br>
              <a:rPr lang="en-US" sz="800" dirty="0"/>
            </a:br>
            <a:r>
              <a:rPr lang="en-US" sz="800" dirty="0"/>
              <a:t>attractors, full trajectories, basin entropy, Derrida values, coherence, perturbation fragility, …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02FE9E-4FD2-F921-5BA0-18BE9218DF83}"/>
              </a:ext>
            </a:extLst>
          </p:cNvPr>
          <p:cNvSpPr txBox="1"/>
          <p:nvPr/>
        </p:nvSpPr>
        <p:spPr>
          <a:xfrm>
            <a:off x="2464895" y="2752690"/>
            <a:ext cx="2931557" cy="1615916"/>
          </a:xfrm>
          <a:prstGeom prst="roundRect">
            <a:avLst>
              <a:gd name="adj" fmla="val 3240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b="1" dirty="0"/>
              <a:t>Ensemble-based investigations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800" b="1" dirty="0"/>
              <a:t>Function-level characterization (Fig. 3A)</a:t>
            </a:r>
            <a:br>
              <a:rPr lang="en-US" sz="800" dirty="0"/>
            </a:br>
            <a:r>
              <a:rPr lang="en-US" sz="800" dirty="0"/>
              <a:t>Compare 5,000+ biological Boolean functions with constraint-matched random ensembles to uncover structural design principles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800" b="1" dirty="0"/>
              <a:t>Parameter space exploration (Fig. 3B)</a:t>
            </a:r>
            <a:br>
              <a:rPr lang="en-US" sz="800" dirty="0"/>
            </a:br>
            <a:r>
              <a:rPr lang="en-US" sz="800" dirty="0"/>
              <a:t>Systematically quantify how functional and topological parameters shape network dynamics and robustness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800" b="1" dirty="0"/>
              <a:t>Null model hypothesis testing (Fig. 3C)</a:t>
            </a:r>
            <a:br>
              <a:rPr lang="en-US" sz="800" dirty="0"/>
            </a:br>
            <a:r>
              <a:rPr lang="en-US" sz="800" dirty="0"/>
              <a:t>Assess the statistical significance of structural and dynamical features in biological networks using ensembles of matched null models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1035FF3-B2F8-1970-41DC-0EC573D38B69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5396459" y="1987579"/>
            <a:ext cx="260702" cy="1228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F67EF4C-4E39-E91C-F453-CC39F99ABB1D}"/>
              </a:ext>
            </a:extLst>
          </p:cNvPr>
          <p:cNvCxnSpPr>
            <a:cxnSpLocks/>
          </p:cNvCxnSpPr>
          <p:nvPr/>
        </p:nvCxnSpPr>
        <p:spPr>
          <a:xfrm>
            <a:off x="6959631" y="2798758"/>
            <a:ext cx="0" cy="31054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15EB058-C45B-FB02-3C97-D78E7C1821CB}"/>
              </a:ext>
            </a:extLst>
          </p:cNvPr>
          <p:cNvCxnSpPr>
            <a:cxnSpLocks/>
            <a:stCxn id="18" idx="1"/>
          </p:cNvCxnSpPr>
          <p:nvPr/>
        </p:nvCxnSpPr>
        <p:spPr>
          <a:xfrm flipH="1" flipV="1">
            <a:off x="5394934" y="3726526"/>
            <a:ext cx="262227" cy="1024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025B2D3-15E3-475D-A8AE-69940803CA2C}"/>
              </a:ext>
            </a:extLst>
          </p:cNvPr>
          <p:cNvCxnSpPr>
            <a:cxnSpLocks/>
          </p:cNvCxnSpPr>
          <p:nvPr/>
        </p:nvCxnSpPr>
        <p:spPr>
          <a:xfrm flipV="1">
            <a:off x="7295211" y="2801395"/>
            <a:ext cx="0" cy="31705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A9E022B-7D34-EC66-3B46-EB1C5CAC4AA2}"/>
              </a:ext>
            </a:extLst>
          </p:cNvPr>
          <p:cNvSpPr txBox="1"/>
          <p:nvPr/>
        </p:nvSpPr>
        <p:spPr>
          <a:xfrm>
            <a:off x="7282790" y="2845172"/>
            <a:ext cx="11394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refine constraints</a:t>
            </a:r>
            <a:endParaRPr lang="en-US" sz="8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835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C8FC64-7A86-8421-8D04-C45D1C9CC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625600"/>
            <a:ext cx="3352800" cy="36068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EC4F81C-E0FA-D9DB-3359-6530B4E5EF7B}"/>
              </a:ext>
            </a:extLst>
          </p:cNvPr>
          <p:cNvSpPr/>
          <p:nvPr/>
        </p:nvSpPr>
        <p:spPr>
          <a:xfrm>
            <a:off x="3712464" y="1325880"/>
            <a:ext cx="1719072" cy="640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C45785-160F-0C54-C627-6B9882E9A523}"/>
              </a:ext>
            </a:extLst>
          </p:cNvPr>
          <p:cNvSpPr/>
          <p:nvPr/>
        </p:nvSpPr>
        <p:spPr>
          <a:xfrm>
            <a:off x="5431536" y="1155700"/>
            <a:ext cx="1719072" cy="640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B2BB3E-EF70-C1CB-4761-43E99493E6F2}"/>
              </a:ext>
            </a:extLst>
          </p:cNvPr>
          <p:cNvSpPr/>
          <p:nvPr/>
        </p:nvSpPr>
        <p:spPr>
          <a:xfrm>
            <a:off x="3886200" y="2715768"/>
            <a:ext cx="3794760" cy="310896"/>
          </a:xfrm>
          <a:prstGeom prst="rect">
            <a:avLst/>
          </a:prstGeom>
          <a:solidFill>
            <a:srgbClr val="C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m=2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F99191-2920-CA24-0B07-E479DC7B8B5E}"/>
              </a:ext>
            </a:extLst>
          </p:cNvPr>
          <p:cNvSpPr/>
          <p:nvPr/>
        </p:nvSpPr>
        <p:spPr>
          <a:xfrm>
            <a:off x="3886200" y="3703321"/>
            <a:ext cx="3794760" cy="310896"/>
          </a:xfrm>
          <a:prstGeom prst="rect">
            <a:avLst/>
          </a:prstGeom>
          <a:solidFill>
            <a:srgbClr val="C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m=1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8B6525-19F8-6D67-11F9-17BF954D0C89}"/>
              </a:ext>
            </a:extLst>
          </p:cNvPr>
          <p:cNvSpPr/>
          <p:nvPr/>
        </p:nvSpPr>
        <p:spPr>
          <a:xfrm>
            <a:off x="3886200" y="1762760"/>
            <a:ext cx="3794760" cy="310896"/>
          </a:xfrm>
          <a:prstGeom prst="rect">
            <a:avLst/>
          </a:prstGeom>
          <a:solidFill>
            <a:srgbClr val="C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m=3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6596A4-FA80-E96E-CC1C-1E53B5F0EC25}"/>
              </a:ext>
            </a:extLst>
          </p:cNvPr>
          <p:cNvSpPr txBox="1"/>
          <p:nvPr/>
        </p:nvSpPr>
        <p:spPr>
          <a:xfrm>
            <a:off x="5623268" y="2559848"/>
            <a:ext cx="463588" cy="30777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s=2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7D6CF0-CA07-F0DD-89EA-7627D4B53499}"/>
              </a:ext>
            </a:extLst>
          </p:cNvPr>
          <p:cNvSpPr txBox="1"/>
          <p:nvPr/>
        </p:nvSpPr>
        <p:spPr>
          <a:xfrm>
            <a:off x="7147560" y="2554259"/>
            <a:ext cx="463588" cy="30777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s=1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A34549-F073-D6B9-B2B5-0A0E95FF6600}"/>
              </a:ext>
            </a:extLst>
          </p:cNvPr>
          <p:cNvSpPr txBox="1"/>
          <p:nvPr/>
        </p:nvSpPr>
        <p:spPr>
          <a:xfrm>
            <a:off x="5126444" y="3525083"/>
            <a:ext cx="463588" cy="30777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s=3</a:t>
            </a:r>
          </a:p>
        </p:txBody>
      </p:sp>
    </p:spTree>
    <p:extLst>
      <p:ext uri="{BB962C8B-B14F-4D97-AF65-F5344CB8AC3E}">
        <p14:creationId xmlns:p14="http://schemas.microsoft.com/office/powerpoint/2010/main" val="804569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836A5-0E2E-4EEF-64D1-7741FE574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>
            <a:extLst>
              <a:ext uri="{FF2B5EF4-FFF2-40B4-BE49-F238E27FC236}">
                <a16:creationId xmlns:a16="http://schemas.microsoft.com/office/drawing/2014/main" id="{BDEA4C74-EAE5-68AB-D3AA-C4D815969B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933"/>
          <a:stretch>
            <a:fillRect/>
          </a:stretch>
        </p:blipFill>
        <p:spPr>
          <a:xfrm>
            <a:off x="494876" y="2201883"/>
            <a:ext cx="3095399" cy="3039271"/>
          </a:xfrm>
          <a:prstGeom prst="rect">
            <a:avLst/>
          </a:prstGeom>
        </p:spPr>
      </p:pic>
      <p:pic>
        <p:nvPicPr>
          <p:cNvPr id="22" name="Picture 21" descr="A table with a list of different degrees&#10;&#10;AI-generated content may be incorrect.">
            <a:extLst>
              <a:ext uri="{FF2B5EF4-FFF2-40B4-BE49-F238E27FC236}">
                <a16:creationId xmlns:a16="http://schemas.microsoft.com/office/drawing/2014/main" id="{033A2937-DAA1-04A9-3BAC-58541A026B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791" y="4234745"/>
            <a:ext cx="3121074" cy="1101841"/>
          </a:xfrm>
          <a:prstGeom prst="rect">
            <a:avLst/>
          </a:prstGeom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B1400C4D-310A-AA57-EC29-A25F552824B5}"/>
              </a:ext>
            </a:extLst>
          </p:cNvPr>
          <p:cNvGrpSpPr/>
          <p:nvPr/>
        </p:nvGrpSpPr>
        <p:grpSpPr>
          <a:xfrm>
            <a:off x="4052136" y="1535196"/>
            <a:ext cx="3203178" cy="3712618"/>
            <a:chOff x="4248905" y="3024136"/>
            <a:chExt cx="3203178" cy="3712618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8C1D2C70-D422-9BB2-3C35-B127ABEC36EF}"/>
                </a:ext>
              </a:extLst>
            </p:cNvPr>
            <p:cNvGrpSpPr/>
            <p:nvPr/>
          </p:nvGrpSpPr>
          <p:grpSpPr>
            <a:xfrm>
              <a:off x="4248905" y="3581699"/>
              <a:ext cx="3203178" cy="3155055"/>
              <a:chOff x="3741454" y="2271479"/>
              <a:chExt cx="3494063" cy="3219533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26F90DE5-C098-4DBB-D4DB-170DF595F6F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741454" y="2382833"/>
                <a:ext cx="3494063" cy="3108179"/>
                <a:chOff x="3701301" y="2814589"/>
                <a:chExt cx="3799100" cy="3379528"/>
              </a:xfrm>
            </p:grpSpPr>
            <p:pic>
              <p:nvPicPr>
                <p:cNvPr id="4" name="Picture 3" descr="A graph of different sizes and colors&#10;&#10;AI-generated content may be incorrect.">
                  <a:extLst>
                    <a:ext uri="{FF2B5EF4-FFF2-40B4-BE49-F238E27FC236}">
                      <a16:creationId xmlns:a16="http://schemas.microsoft.com/office/drawing/2014/main" id="{B8A2E544-5711-3568-286D-4624EB7E5A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rcRect l="8506" r="84179"/>
                <a:stretch>
                  <a:fillRect/>
                </a:stretch>
              </p:blipFill>
              <p:spPr>
                <a:xfrm>
                  <a:off x="4067827" y="2814589"/>
                  <a:ext cx="522382" cy="3379528"/>
                </a:xfrm>
                <a:prstGeom prst="rect">
                  <a:avLst/>
                </a:prstGeom>
              </p:spPr>
            </p:pic>
            <p:pic>
              <p:nvPicPr>
                <p:cNvPr id="5" name="Picture 4" descr="A graph of different sizes and colors&#10;&#10;AI-generated content may be incorrect.">
                  <a:extLst>
                    <a:ext uri="{FF2B5EF4-FFF2-40B4-BE49-F238E27FC236}">
                      <a16:creationId xmlns:a16="http://schemas.microsoft.com/office/drawing/2014/main" id="{C9F8EB2C-EBD8-EE54-53F2-21E9A89DED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rcRect l="59466"/>
                <a:stretch>
                  <a:fillRect/>
                </a:stretch>
              </p:blipFill>
              <p:spPr>
                <a:xfrm>
                  <a:off x="4605711" y="2814589"/>
                  <a:ext cx="2894690" cy="3379527"/>
                </a:xfrm>
                <a:prstGeom prst="rect">
                  <a:avLst/>
                </a:prstGeom>
              </p:spPr>
            </p:pic>
            <p:pic>
              <p:nvPicPr>
                <p:cNvPr id="6" name="Picture 5" descr="A graph of different sizes and colors&#10;&#10;AI-generated content may be incorrect.">
                  <a:extLst>
                    <a:ext uri="{FF2B5EF4-FFF2-40B4-BE49-F238E27FC236}">
                      <a16:creationId xmlns:a16="http://schemas.microsoft.com/office/drawing/2014/main" id="{478A1481-D713-2A5B-4F72-6C1583451A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rcRect t="14179" r="95015"/>
                <a:stretch>
                  <a:fillRect/>
                </a:stretch>
              </p:blipFill>
              <p:spPr>
                <a:xfrm>
                  <a:off x="3701301" y="3307978"/>
                  <a:ext cx="338903" cy="2761346"/>
                </a:xfrm>
                <a:prstGeom prst="rect">
                  <a:avLst/>
                </a:prstGeom>
              </p:spPr>
            </p:pic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945F9C1-5CEF-3EFF-E473-8E8CCE8BBFBA}"/>
                  </a:ext>
                </a:extLst>
              </p:cNvPr>
              <p:cNvSpPr/>
              <p:nvPr/>
            </p:nvSpPr>
            <p:spPr>
              <a:xfrm>
                <a:off x="4573246" y="2389183"/>
                <a:ext cx="2634378" cy="17210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68F4EB2E-74E3-76DC-FD09-BDF426F85D80}"/>
                  </a:ext>
                </a:extLst>
              </p:cNvPr>
              <p:cNvSpPr/>
              <p:nvPr/>
            </p:nvSpPr>
            <p:spPr>
              <a:xfrm rot="16200000">
                <a:off x="5781514" y="3502614"/>
                <a:ext cx="2634378" cy="17210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F5B7A53E-C96F-CC75-8D8C-0272B1423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63306" t="52315"/>
            <a:stretch>
              <a:fillRect/>
            </a:stretch>
          </p:blipFill>
          <p:spPr>
            <a:xfrm>
              <a:off x="5043018" y="3592005"/>
              <a:ext cx="1537979" cy="238714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1E61C540-0E45-59F5-3212-1A7A29D09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43500" r="43133"/>
            <a:stretch>
              <a:fillRect/>
            </a:stretch>
          </p:blipFill>
          <p:spPr>
            <a:xfrm>
              <a:off x="5043018" y="3293004"/>
              <a:ext cx="2383494" cy="282840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47B4280-0D5A-295A-B080-5052EB8749A3}"/>
                </a:ext>
              </a:extLst>
            </p:cNvPr>
            <p:cNvSpPr txBox="1"/>
            <p:nvPr/>
          </p:nvSpPr>
          <p:spPr>
            <a:xfrm>
              <a:off x="5603209" y="3024136"/>
              <a:ext cx="14866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Network degree</a:t>
              </a:r>
            </a:p>
          </p:txBody>
        </p:sp>
      </p:grpSp>
      <p:sp>
        <p:nvSpPr>
          <p:cNvPr id="51" name="Frame 50">
            <a:extLst>
              <a:ext uri="{FF2B5EF4-FFF2-40B4-BE49-F238E27FC236}">
                <a16:creationId xmlns:a16="http://schemas.microsoft.com/office/drawing/2014/main" id="{266DE118-998B-5FAA-4E26-07B60CD83234}"/>
              </a:ext>
            </a:extLst>
          </p:cNvPr>
          <p:cNvSpPr/>
          <p:nvPr/>
        </p:nvSpPr>
        <p:spPr>
          <a:xfrm>
            <a:off x="4002713" y="833718"/>
            <a:ext cx="3530278" cy="4586993"/>
          </a:xfrm>
          <a:prstGeom prst="frame">
            <a:avLst>
              <a:gd name="adj1" fmla="val 369"/>
            </a:avLst>
          </a:prstGeom>
          <a:ln cap="flat"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Frame 51">
            <a:extLst>
              <a:ext uri="{FF2B5EF4-FFF2-40B4-BE49-F238E27FC236}">
                <a16:creationId xmlns:a16="http://schemas.microsoft.com/office/drawing/2014/main" id="{C5244DB0-CD46-E988-A775-889C8ECFF9EE}"/>
              </a:ext>
            </a:extLst>
          </p:cNvPr>
          <p:cNvSpPr/>
          <p:nvPr/>
        </p:nvSpPr>
        <p:spPr>
          <a:xfrm>
            <a:off x="7648393" y="833718"/>
            <a:ext cx="3530278" cy="4586993"/>
          </a:xfrm>
          <a:prstGeom prst="frame">
            <a:avLst>
              <a:gd name="adj1" fmla="val 369"/>
            </a:avLst>
          </a:prstGeom>
          <a:ln cap="flat"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3" name="Frame 52">
            <a:extLst>
              <a:ext uri="{FF2B5EF4-FFF2-40B4-BE49-F238E27FC236}">
                <a16:creationId xmlns:a16="http://schemas.microsoft.com/office/drawing/2014/main" id="{AEB96B36-A652-B35B-F6A4-A225C3BEC564}"/>
              </a:ext>
            </a:extLst>
          </p:cNvPr>
          <p:cNvSpPr/>
          <p:nvPr/>
        </p:nvSpPr>
        <p:spPr>
          <a:xfrm>
            <a:off x="357033" y="833718"/>
            <a:ext cx="3530278" cy="4586993"/>
          </a:xfrm>
          <a:prstGeom prst="frame">
            <a:avLst>
              <a:gd name="adj1" fmla="val 369"/>
            </a:avLst>
          </a:prstGeom>
          <a:ln cap="flat"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A4274D3-4387-9EC2-E996-40E01D28DBEF}"/>
              </a:ext>
            </a:extLst>
          </p:cNvPr>
          <p:cNvSpPr txBox="1"/>
          <p:nvPr/>
        </p:nvSpPr>
        <p:spPr>
          <a:xfrm>
            <a:off x="344509" y="890938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69C56C5-144C-FD08-DDF9-B0EA26B33740}"/>
              </a:ext>
            </a:extLst>
          </p:cNvPr>
          <p:cNvSpPr txBox="1"/>
          <p:nvPr/>
        </p:nvSpPr>
        <p:spPr>
          <a:xfrm>
            <a:off x="4016958" y="890938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AF82B84-58B5-FA6D-8D7C-E8E7C454C28D}"/>
              </a:ext>
            </a:extLst>
          </p:cNvPr>
          <p:cNvSpPr txBox="1"/>
          <p:nvPr/>
        </p:nvSpPr>
        <p:spPr>
          <a:xfrm>
            <a:off x="7653039" y="890938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55FAC3B-1467-7B95-DDD0-7BC68F32E7F5}"/>
              </a:ext>
            </a:extLst>
          </p:cNvPr>
          <p:cNvGrpSpPr/>
          <p:nvPr/>
        </p:nvGrpSpPr>
        <p:grpSpPr>
          <a:xfrm>
            <a:off x="7856379" y="1283294"/>
            <a:ext cx="2906145" cy="3114663"/>
            <a:chOff x="7856379" y="1283294"/>
            <a:chExt cx="2906145" cy="3114663"/>
          </a:xfrm>
        </p:grpSpPr>
        <p:pic>
          <p:nvPicPr>
            <p:cNvPr id="9" name="Picture 8" descr="A diagram of a number of data&#10;&#10;AI-generated content may be incorrect.">
              <a:extLst>
                <a:ext uri="{FF2B5EF4-FFF2-40B4-BE49-F238E27FC236}">
                  <a16:creationId xmlns:a16="http://schemas.microsoft.com/office/drawing/2014/main" id="{7337774E-51DF-27FD-E0FA-A7E00091209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304" t="28590" r="61652" b="14476"/>
            <a:stretch>
              <a:fillRect/>
            </a:stretch>
          </p:blipFill>
          <p:spPr>
            <a:xfrm>
              <a:off x="8199764" y="1858361"/>
              <a:ext cx="2562760" cy="240004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31ACEFB-B5E1-2746-DCB1-B4C31FDC71D8}"/>
                </a:ext>
              </a:extLst>
            </p:cNvPr>
            <p:cNvSpPr txBox="1"/>
            <p:nvPr/>
          </p:nvSpPr>
          <p:spPr>
            <a:xfrm rot="16200000">
              <a:off x="6657205" y="2875617"/>
              <a:ext cx="272151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First-order approximation error</a:t>
              </a:r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03DA70CE-505C-172E-40ED-997C44F92CC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910668" y="1283294"/>
              <a:ext cx="1699062" cy="803610"/>
            </a:xfrm>
            <a:prstGeom prst="rect">
              <a:avLst/>
            </a:prstGeom>
          </p:spPr>
        </p:pic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E5A1A7DD-9DB7-E932-3880-3AC817E012BD}"/>
              </a:ext>
            </a:extLst>
          </p:cNvPr>
          <p:cNvSpPr txBox="1"/>
          <p:nvPr/>
        </p:nvSpPr>
        <p:spPr>
          <a:xfrm>
            <a:off x="786153" y="905420"/>
            <a:ext cx="30953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Function-level characterization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CCB232B-36D2-B648-1A2C-8CA41ED16F0B}"/>
              </a:ext>
            </a:extLst>
          </p:cNvPr>
          <p:cNvSpPr txBox="1"/>
          <p:nvPr/>
        </p:nvSpPr>
        <p:spPr>
          <a:xfrm>
            <a:off x="4660196" y="921716"/>
            <a:ext cx="28567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Parameter space exploration </a:t>
            </a:r>
            <a:endParaRPr lang="en-US" sz="16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ECA746E-418E-C1B1-F936-22F64F2AF81B}"/>
              </a:ext>
            </a:extLst>
          </p:cNvPr>
          <p:cNvSpPr txBox="1"/>
          <p:nvPr/>
        </p:nvSpPr>
        <p:spPr>
          <a:xfrm>
            <a:off x="8207536" y="889229"/>
            <a:ext cx="29647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Null model hypothesis testing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D5E9689-B409-C04C-CCB1-1A01D2CFDABD}"/>
              </a:ext>
            </a:extLst>
          </p:cNvPr>
          <p:cNvSpPr txBox="1"/>
          <p:nvPr/>
        </p:nvSpPr>
        <p:spPr>
          <a:xfrm>
            <a:off x="1990335" y="2338417"/>
            <a:ext cx="178843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E6550E"/>
                </a:solidFill>
              </a:rPr>
              <a:t>biological networks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04EBBE0-AD4F-1313-9DD7-3B41CA465944}"/>
              </a:ext>
            </a:extLst>
          </p:cNvPr>
          <p:cNvSpPr txBox="1"/>
          <p:nvPr/>
        </p:nvSpPr>
        <p:spPr>
          <a:xfrm>
            <a:off x="2135401" y="3843959"/>
            <a:ext cx="176432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expectation</a:t>
            </a:r>
            <a:br>
              <a:rPr lang="en-US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(random functions)</a:t>
            </a:r>
          </a:p>
        </p:txBody>
      </p:sp>
    </p:spTree>
    <p:extLst>
      <p:ext uri="{BB962C8B-B14F-4D97-AF65-F5344CB8AC3E}">
        <p14:creationId xmlns:p14="http://schemas.microsoft.com/office/powerpoint/2010/main" val="3969123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BFDF6-EF9D-BCEC-8B81-4E75B61EB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950CB7C-7B4E-B27A-913F-AD37BF6EDF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881"/>
          <a:stretch>
            <a:fillRect/>
          </a:stretch>
        </p:blipFill>
        <p:spPr>
          <a:xfrm>
            <a:off x="714729" y="2338417"/>
            <a:ext cx="2993408" cy="286764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D36978-2F52-9BDA-24D8-EA3DEC8724EF}"/>
              </a:ext>
            </a:extLst>
          </p:cNvPr>
          <p:cNvSpPr txBox="1"/>
          <p:nvPr/>
        </p:nvSpPr>
        <p:spPr>
          <a:xfrm>
            <a:off x="7688407" y="912002"/>
            <a:ext cx="3521864" cy="4476452"/>
          </a:xfrm>
          <a:prstGeom prst="roundRect">
            <a:avLst>
              <a:gd name="adj" fmla="val 7885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8910065-785D-152B-2397-AEF3339E2453}"/>
              </a:ext>
            </a:extLst>
          </p:cNvPr>
          <p:cNvSpPr txBox="1"/>
          <p:nvPr/>
        </p:nvSpPr>
        <p:spPr>
          <a:xfrm>
            <a:off x="826494" y="921716"/>
            <a:ext cx="30953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Function-level characterization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26B8307-9282-5407-F5DD-9F3424F89B25}"/>
              </a:ext>
            </a:extLst>
          </p:cNvPr>
          <p:cNvSpPr txBox="1"/>
          <p:nvPr/>
        </p:nvSpPr>
        <p:spPr>
          <a:xfrm>
            <a:off x="4606408" y="921716"/>
            <a:ext cx="28567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Parameter space exploration </a:t>
            </a:r>
            <a:endParaRPr lang="en-US" sz="16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C8B8A7B-878F-CF7F-E31B-6D3821A1A314}"/>
              </a:ext>
            </a:extLst>
          </p:cNvPr>
          <p:cNvSpPr txBox="1"/>
          <p:nvPr/>
        </p:nvSpPr>
        <p:spPr>
          <a:xfrm>
            <a:off x="369367" y="921716"/>
            <a:ext cx="3521864" cy="4476452"/>
          </a:xfrm>
          <a:prstGeom prst="roundRect">
            <a:avLst>
              <a:gd name="adj" fmla="val 7885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C7CB346-79F3-6D54-98C8-7C8C562C9FD5}"/>
              </a:ext>
            </a:extLst>
          </p:cNvPr>
          <p:cNvSpPr txBox="1"/>
          <p:nvPr/>
        </p:nvSpPr>
        <p:spPr>
          <a:xfrm>
            <a:off x="8059619" y="921716"/>
            <a:ext cx="29647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Null model hypothesis testing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75393A-D68B-FAA7-E82F-EC538291B8B8}"/>
              </a:ext>
            </a:extLst>
          </p:cNvPr>
          <p:cNvSpPr txBox="1"/>
          <p:nvPr/>
        </p:nvSpPr>
        <p:spPr>
          <a:xfrm>
            <a:off x="4056110" y="910604"/>
            <a:ext cx="3521864" cy="4476452"/>
          </a:xfrm>
          <a:prstGeom prst="roundRect">
            <a:avLst>
              <a:gd name="adj" fmla="val 7885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</p:txBody>
      </p:sp>
      <p:pic>
        <p:nvPicPr>
          <p:cNvPr id="22" name="Picture 21" descr="A table with a list of different degrees&#10;&#10;AI-generated content may be incorrect.">
            <a:extLst>
              <a:ext uri="{FF2B5EF4-FFF2-40B4-BE49-F238E27FC236}">
                <a16:creationId xmlns:a16="http://schemas.microsoft.com/office/drawing/2014/main" id="{A7814195-DAFB-B146-A8FA-B9CF176BAC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5897" y="4217227"/>
            <a:ext cx="3208785" cy="1132806"/>
          </a:xfrm>
          <a:prstGeom prst="rect">
            <a:avLst/>
          </a:prstGeom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4791505F-F5BE-5E96-FA79-F5B3726EEFF1}"/>
              </a:ext>
            </a:extLst>
          </p:cNvPr>
          <p:cNvGrpSpPr/>
          <p:nvPr/>
        </p:nvGrpSpPr>
        <p:grpSpPr>
          <a:xfrm>
            <a:off x="4132817" y="1523516"/>
            <a:ext cx="3232824" cy="3724298"/>
            <a:chOff x="4235457" y="3012456"/>
            <a:chExt cx="3232824" cy="3724298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069D2F8-A682-EE36-B8DA-663A3FE3073E}"/>
                </a:ext>
              </a:extLst>
            </p:cNvPr>
            <p:cNvGrpSpPr/>
            <p:nvPr/>
          </p:nvGrpSpPr>
          <p:grpSpPr>
            <a:xfrm>
              <a:off x="4235457" y="3581699"/>
              <a:ext cx="3216625" cy="3155055"/>
              <a:chOff x="3726785" y="2271479"/>
              <a:chExt cx="3508731" cy="3219533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6AC6B99-F01D-01B2-F1CC-62BD24497EA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726785" y="2382833"/>
                <a:ext cx="3508731" cy="3108179"/>
                <a:chOff x="3685352" y="2814589"/>
                <a:chExt cx="3815049" cy="3379528"/>
              </a:xfrm>
            </p:grpSpPr>
            <p:pic>
              <p:nvPicPr>
                <p:cNvPr id="4" name="Picture 3" descr="A graph of different sizes and colors&#10;&#10;AI-generated content may be incorrect.">
                  <a:extLst>
                    <a:ext uri="{FF2B5EF4-FFF2-40B4-BE49-F238E27FC236}">
                      <a16:creationId xmlns:a16="http://schemas.microsoft.com/office/drawing/2014/main" id="{56CD5707-742F-DC60-39B1-A266DA5DFA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rcRect l="8506" r="84179"/>
                <a:stretch>
                  <a:fillRect/>
                </a:stretch>
              </p:blipFill>
              <p:spPr>
                <a:xfrm>
                  <a:off x="4067827" y="2814589"/>
                  <a:ext cx="522382" cy="3379528"/>
                </a:xfrm>
                <a:prstGeom prst="rect">
                  <a:avLst/>
                </a:prstGeom>
              </p:spPr>
            </p:pic>
            <p:pic>
              <p:nvPicPr>
                <p:cNvPr id="5" name="Picture 4" descr="A graph of different sizes and colors&#10;&#10;AI-generated content may be incorrect.">
                  <a:extLst>
                    <a:ext uri="{FF2B5EF4-FFF2-40B4-BE49-F238E27FC236}">
                      <a16:creationId xmlns:a16="http://schemas.microsoft.com/office/drawing/2014/main" id="{CF6E992C-F33D-B87C-A3EF-0670C64D01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rcRect l="59466"/>
                <a:stretch>
                  <a:fillRect/>
                </a:stretch>
              </p:blipFill>
              <p:spPr>
                <a:xfrm>
                  <a:off x="4605711" y="2814589"/>
                  <a:ext cx="2894690" cy="3379527"/>
                </a:xfrm>
                <a:prstGeom prst="rect">
                  <a:avLst/>
                </a:prstGeom>
              </p:spPr>
            </p:pic>
            <p:pic>
              <p:nvPicPr>
                <p:cNvPr id="6" name="Picture 5" descr="A graph of different sizes and colors&#10;&#10;AI-generated content may be incorrect.">
                  <a:extLst>
                    <a:ext uri="{FF2B5EF4-FFF2-40B4-BE49-F238E27FC236}">
                      <a16:creationId xmlns:a16="http://schemas.microsoft.com/office/drawing/2014/main" id="{5D7F8D4C-68A0-009E-C65D-72E7A4D3B0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rcRect t="14179" r="95015"/>
                <a:stretch>
                  <a:fillRect/>
                </a:stretch>
              </p:blipFill>
              <p:spPr>
                <a:xfrm>
                  <a:off x="3685352" y="3307978"/>
                  <a:ext cx="338903" cy="2761346"/>
                </a:xfrm>
                <a:prstGeom prst="rect">
                  <a:avLst/>
                </a:prstGeom>
              </p:spPr>
            </p:pic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ACD4A53-A4F0-C0E2-E097-E140360DF0E2}"/>
                  </a:ext>
                </a:extLst>
              </p:cNvPr>
              <p:cNvSpPr/>
              <p:nvPr/>
            </p:nvSpPr>
            <p:spPr>
              <a:xfrm>
                <a:off x="4573246" y="2389183"/>
                <a:ext cx="2634378" cy="17210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1191CD8-F38C-2CEA-01C9-E9682DAF8D72}"/>
                  </a:ext>
                </a:extLst>
              </p:cNvPr>
              <p:cNvSpPr/>
              <p:nvPr/>
            </p:nvSpPr>
            <p:spPr>
              <a:xfrm rot="16200000">
                <a:off x="5781514" y="3502614"/>
                <a:ext cx="2634378" cy="17210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2C6552EB-7F4D-96A1-041F-B14C6FEF5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63306" t="52315"/>
            <a:stretch>
              <a:fillRect/>
            </a:stretch>
          </p:blipFill>
          <p:spPr>
            <a:xfrm>
              <a:off x="5930302" y="3616169"/>
              <a:ext cx="1537979" cy="238714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7837D6B2-2741-CA8F-03C9-237CF5BDE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43500" r="43133"/>
            <a:stretch>
              <a:fillRect/>
            </a:stretch>
          </p:blipFill>
          <p:spPr>
            <a:xfrm>
              <a:off x="5043018" y="3293004"/>
              <a:ext cx="2383494" cy="282840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97B63C5-14A5-B148-DC44-26176E6F7DD9}"/>
                </a:ext>
              </a:extLst>
            </p:cNvPr>
            <p:cNvSpPr txBox="1"/>
            <p:nvPr/>
          </p:nvSpPr>
          <p:spPr>
            <a:xfrm>
              <a:off x="5481888" y="3012456"/>
              <a:ext cx="1743041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constant in-degree</a:t>
              </a: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DCDD72F6-F348-9F5B-B442-6CFA46160C7E}"/>
              </a:ext>
            </a:extLst>
          </p:cNvPr>
          <p:cNvSpPr txBox="1"/>
          <p:nvPr/>
        </p:nvSpPr>
        <p:spPr>
          <a:xfrm>
            <a:off x="505873" y="890938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598C547-479B-5180-5D7B-0FFF61DFE239}"/>
              </a:ext>
            </a:extLst>
          </p:cNvPr>
          <p:cNvSpPr txBox="1"/>
          <p:nvPr/>
        </p:nvSpPr>
        <p:spPr>
          <a:xfrm>
            <a:off x="4124534" y="890938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0C64C76-D9EF-6A87-0C7D-42E0A292EF24}"/>
              </a:ext>
            </a:extLst>
          </p:cNvPr>
          <p:cNvSpPr txBox="1"/>
          <p:nvPr/>
        </p:nvSpPr>
        <p:spPr>
          <a:xfrm>
            <a:off x="7733721" y="890938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6F3556B-48FB-1B00-0EFA-BC952FA012B7}"/>
              </a:ext>
            </a:extLst>
          </p:cNvPr>
          <p:cNvGrpSpPr/>
          <p:nvPr/>
        </p:nvGrpSpPr>
        <p:grpSpPr>
          <a:xfrm>
            <a:off x="7762250" y="1283294"/>
            <a:ext cx="2906145" cy="3114663"/>
            <a:chOff x="7856379" y="1283294"/>
            <a:chExt cx="2906145" cy="3114663"/>
          </a:xfrm>
        </p:grpSpPr>
        <p:pic>
          <p:nvPicPr>
            <p:cNvPr id="9" name="Picture 8" descr="A diagram of a number of data&#10;&#10;AI-generated content may be incorrect.">
              <a:extLst>
                <a:ext uri="{FF2B5EF4-FFF2-40B4-BE49-F238E27FC236}">
                  <a16:creationId xmlns:a16="http://schemas.microsoft.com/office/drawing/2014/main" id="{F6ED234B-0020-0FCE-5A91-2E9F09DB92B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304" t="28590" r="61652" b="14476"/>
            <a:stretch>
              <a:fillRect/>
            </a:stretch>
          </p:blipFill>
          <p:spPr>
            <a:xfrm>
              <a:off x="8199764" y="1858361"/>
              <a:ext cx="2562760" cy="240004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B035742-A9E0-1607-3A21-7A677242D163}"/>
                </a:ext>
              </a:extLst>
            </p:cNvPr>
            <p:cNvSpPr txBox="1"/>
            <p:nvPr/>
          </p:nvSpPr>
          <p:spPr>
            <a:xfrm rot="16200000">
              <a:off x="6657205" y="2875617"/>
              <a:ext cx="272151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First-order approximation error</a:t>
              </a:r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7D4256BB-F565-9F76-420A-432D423BB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910668" y="1283294"/>
              <a:ext cx="1699062" cy="80361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2E97A4B-9EDF-C370-1523-722C9B41B650}"/>
              </a:ext>
            </a:extLst>
          </p:cNvPr>
          <p:cNvSpPr txBox="1"/>
          <p:nvPr/>
        </p:nvSpPr>
        <p:spPr>
          <a:xfrm>
            <a:off x="1990335" y="2338417"/>
            <a:ext cx="178843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E6550E"/>
                </a:solidFill>
              </a:rPr>
              <a:t>biological networks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29C0AB-4AA7-59E4-717A-A7B3DC6DB4D2}"/>
              </a:ext>
            </a:extLst>
          </p:cNvPr>
          <p:cNvSpPr txBox="1"/>
          <p:nvPr/>
        </p:nvSpPr>
        <p:spPr>
          <a:xfrm>
            <a:off x="2135401" y="3843959"/>
            <a:ext cx="176432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expectation</a:t>
            </a:r>
            <a:br>
              <a:rPr lang="en-US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(random functions)</a:t>
            </a:r>
          </a:p>
        </p:txBody>
      </p:sp>
    </p:spTree>
    <p:extLst>
      <p:ext uri="{BB962C8B-B14F-4D97-AF65-F5344CB8AC3E}">
        <p14:creationId xmlns:p14="http://schemas.microsoft.com/office/powerpoint/2010/main" val="3162223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B13B2-35D4-00E1-F8CD-40A269CEC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F3A772-A2C7-01E5-95CF-B6FC792A1454}"/>
              </a:ext>
            </a:extLst>
          </p:cNvPr>
          <p:cNvSpPr txBox="1"/>
          <p:nvPr/>
        </p:nvSpPr>
        <p:spPr>
          <a:xfrm>
            <a:off x="457201" y="1909482"/>
            <a:ext cx="3942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Load 122 published biological 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BAC9DB-401B-87D0-D304-E9CD4FFEA054}"/>
              </a:ext>
            </a:extLst>
          </p:cNvPr>
          <p:cNvSpPr txBox="1"/>
          <p:nvPr/>
        </p:nvSpPr>
        <p:spPr>
          <a:xfrm>
            <a:off x="457201" y="2669241"/>
            <a:ext cx="3138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Extract &gt;5000 regulatory rules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2F1E61-07CB-A9B6-192C-5D856BEB279B}"/>
              </a:ext>
            </a:extLst>
          </p:cNvPr>
          <p:cNvSpPr txBox="1"/>
          <p:nvPr/>
        </p:nvSpPr>
        <p:spPr>
          <a:xfrm>
            <a:off x="3010591" y="3607839"/>
            <a:ext cx="4003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Analyze the abundance of canalization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09F9C5-CD3C-6F8D-4102-05DBE9D49E80}"/>
              </a:ext>
            </a:extLst>
          </p:cNvPr>
          <p:cNvSpPr txBox="1"/>
          <p:nvPr/>
        </p:nvSpPr>
        <p:spPr>
          <a:xfrm>
            <a:off x="4687367" y="1928319"/>
            <a:ext cx="5767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Generate a large ensemble of random Boolean functions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6A2D28-B59E-CB79-79A4-5C7011DBAB95}"/>
              </a:ext>
            </a:extLst>
          </p:cNvPr>
          <p:cNvSpPr txBox="1"/>
          <p:nvPr/>
        </p:nvSpPr>
        <p:spPr>
          <a:xfrm>
            <a:off x="470647" y="5100028"/>
            <a:ext cx="10260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Statistical analysis yields finding: bio networks are massively enriched for nested canalizing functions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D4F520-DE3C-2AC9-ED94-3684C37AF8C5}"/>
              </a:ext>
            </a:extLst>
          </p:cNvPr>
          <p:cNvSpPr txBox="1"/>
          <p:nvPr/>
        </p:nvSpPr>
        <p:spPr>
          <a:xfrm>
            <a:off x="937985" y="436130"/>
            <a:ext cx="7909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Extract and analyze Boolean functions to identify anomalies/design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401518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0D7A8-B395-430F-5645-255CEE002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B92E9B-2B62-9813-9B2E-E99C5A75D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550" y="0"/>
            <a:ext cx="9344900" cy="4809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313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8688</TotalTime>
  <Words>1697</Words>
  <Application>Microsoft Macintosh PowerPoint</Application>
  <PresentationFormat>Widescreen</PresentationFormat>
  <Paragraphs>320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Kadelka, Claus [MATH]</dc:creator>
  <cp:lastModifiedBy>Kadelka, Claus [MATH]</cp:lastModifiedBy>
  <cp:revision>11</cp:revision>
  <cp:lastPrinted>2026-05-14T16:04:56Z</cp:lastPrinted>
  <dcterms:created xsi:type="dcterms:W3CDTF">2025-08-21T05:48:11Z</dcterms:created>
  <dcterms:modified xsi:type="dcterms:W3CDTF">2026-05-15T16:06:23Z</dcterms:modified>
</cp:coreProperties>
</file>